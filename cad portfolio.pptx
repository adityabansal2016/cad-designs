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62" r:id="rId1"/>
  </p:sld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8" d="100"/>
          <a:sy n="78" d="100"/>
        </p:scale>
        <p:origin x="87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95269" y="1122363"/>
            <a:ext cx="9001462" cy="2387600"/>
          </a:xfrm>
        </p:spPr>
        <p:txBody>
          <a:bodyPr anchor="b">
            <a:normAutofit/>
          </a:bodyPr>
          <a:lstStyle>
            <a:lvl1pPr algn="ctr">
              <a:defRPr sz="4800"/>
            </a:lvl1pPr>
          </a:lstStyle>
          <a:p>
            <a:r>
              <a:rPr lang="en-US"/>
              <a:t>Click to edit Master title style</a:t>
            </a:r>
            <a:endParaRPr lang="en-US" dirty="0"/>
          </a:p>
        </p:txBody>
      </p:sp>
      <p:sp>
        <p:nvSpPr>
          <p:cNvPr id="3" name="Subtitle 2"/>
          <p:cNvSpPr>
            <a:spLocks noGrp="1"/>
          </p:cNvSpPr>
          <p:nvPr>
            <p:ph type="subTitle" idx="1"/>
          </p:nvPr>
        </p:nvSpPr>
        <p:spPr>
          <a:xfrm>
            <a:off x="1595269" y="3602038"/>
            <a:ext cx="9001462"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0F3DAAF-9E62-4157-8079-49E7FBCF8D56}" type="datetimeFigureOut">
              <a:rPr lang="en-US" smtClean="0"/>
              <a:t>9/2/2025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29838788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191264529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29244" y="657226"/>
            <a:ext cx="9733512" cy="2852737"/>
          </a:xfrm>
        </p:spPr>
        <p:txBody>
          <a:bodyPr anchor="b">
            <a:normAutofit/>
          </a:bodyPr>
          <a:lstStyle>
            <a:lvl1pPr>
              <a:defRPr sz="3400"/>
            </a:lvl1pPr>
          </a:lstStyle>
          <a:p>
            <a:r>
              <a:rPr lang="en-US"/>
              <a:t>Click to edit Master title style</a:t>
            </a:r>
            <a:endParaRPr lang="en-US" dirty="0"/>
          </a:p>
        </p:txBody>
      </p:sp>
      <p:sp>
        <p:nvSpPr>
          <p:cNvPr id="3" name="Text Placeholder 2"/>
          <p:cNvSpPr>
            <a:spLocks noGrp="1"/>
          </p:cNvSpPr>
          <p:nvPr>
            <p:ph type="body" idx="1"/>
          </p:nvPr>
        </p:nvSpPr>
        <p:spPr>
          <a:xfrm>
            <a:off x="1229244" y="3602038"/>
            <a:ext cx="9733512" cy="1500187"/>
          </a:xfrm>
        </p:spPr>
        <p:txBody>
          <a:bodyPr/>
          <a:lstStyle>
            <a:lvl1pPr marL="0" indent="0" algn="ctr">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186119812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1" cy="1326321"/>
          </a:xfrm>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2088319"/>
            <a:ext cx="5106004" cy="37028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3403" y="2088319"/>
            <a:ext cx="5094154" cy="37028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40784275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1"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1141804" y="2088320"/>
            <a:ext cx="4879199" cy="823912"/>
          </a:xfrm>
        </p:spPr>
        <p:txBody>
          <a:bodyPr anchor="b"/>
          <a:lstStyle>
            <a:lvl1pPr marL="0" indent="0">
              <a:lnSpc>
                <a:spcPct val="100000"/>
              </a:lnSpc>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913795" y="2912232"/>
            <a:ext cx="5107208" cy="28789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2003" y="2088320"/>
            <a:ext cx="4865554" cy="823912"/>
          </a:xfrm>
        </p:spPr>
        <p:txBody>
          <a:bodyPr anchor="b"/>
          <a:lstStyle>
            <a:lvl1pPr marL="0" indent="0">
              <a:lnSpc>
                <a:spcPct val="100000"/>
              </a:lnSpc>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912232"/>
            <a:ext cx="5095357" cy="287896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234462687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246100139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2338889133"/>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7228" y="609600"/>
            <a:ext cx="3932237" cy="2362200"/>
          </a:xfrm>
        </p:spPr>
        <p:txBody>
          <a:bodyPr anchor="b">
            <a:normAutofit/>
          </a:bodyPr>
          <a:lstStyle>
            <a:lvl1pPr>
              <a:defRPr sz="2800"/>
            </a:lvl1pPr>
          </a:lstStyle>
          <a:p>
            <a:r>
              <a:rPr lang="en-US"/>
              <a:t>Click to edit Master title style</a:t>
            </a:r>
            <a:endParaRPr lang="en-US" dirty="0"/>
          </a:p>
        </p:txBody>
      </p:sp>
      <p:sp>
        <p:nvSpPr>
          <p:cNvPr id="3" name="Content Placeholder 2"/>
          <p:cNvSpPr>
            <a:spLocks noGrp="1"/>
          </p:cNvSpPr>
          <p:nvPr>
            <p:ph idx="1"/>
          </p:nvPr>
        </p:nvSpPr>
        <p:spPr>
          <a:xfrm>
            <a:off x="5078064" y="609600"/>
            <a:ext cx="6189492" cy="5181600"/>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7228" y="2971800"/>
            <a:ext cx="3932237" cy="2819399"/>
          </a:xfrm>
        </p:spPr>
        <p:txBody>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168753439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7227" y="609600"/>
            <a:ext cx="5929773" cy="2362200"/>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24804" y="758881"/>
            <a:ext cx="3255356" cy="4883038"/>
          </a:xfrm>
          <a:no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4" y="2971800"/>
            <a:ext cx="5934950" cy="2819400"/>
          </a:xfrm>
        </p:spPr>
        <p:txBody>
          <a:bodyPr>
            <a:normAutofit/>
          </a:bodyPr>
          <a:lstStyle>
            <a:lvl1pPr marL="0" indent="0" algn="ctr">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32579188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806" y="4289372"/>
            <a:ext cx="10367564" cy="819355"/>
          </a:xfrm>
        </p:spPr>
        <p:txBody>
          <a:bodyPr anchor="b">
            <a:normAutofit/>
          </a:bodyPr>
          <a:lstStyle>
            <a:lvl1pP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913806" y="621321"/>
            <a:ext cx="10367564" cy="3379735"/>
          </a:xfrm>
          <a:no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65998" cy="682472"/>
          </a:xfrm>
        </p:spPr>
        <p:txBody>
          <a:bodyPr>
            <a:normAutofit/>
          </a:bodyPr>
          <a:lstStyle>
            <a:lvl1pPr marL="0" indent="0" algn="ctr">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320165326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10353762" cy="3424859"/>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5" y="4204820"/>
            <a:ext cx="10353761" cy="159218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38081034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426812"/>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204821"/>
            <a:ext cx="10353762" cy="1586380"/>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805723D-9477-408D-B1DA-D003E2AD4DDD}" type="slidenum">
              <a:rPr lang="en-US" smtClean="0"/>
              <a:t>‹#›</a:t>
            </a:fld>
            <a:endParaRPr lang="en-US"/>
          </a:p>
        </p:txBody>
      </p:sp>
      <p:sp>
        <p:nvSpPr>
          <p:cNvPr id="11" name="TextBox 10"/>
          <p:cNvSpPr txBox="1"/>
          <p:nvPr/>
        </p:nvSpPr>
        <p:spPr>
          <a:xfrm>
            <a:off x="836612" y="735241"/>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657956" y="297209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190940328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806" y="2126942"/>
            <a:ext cx="10355327"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650556"/>
            <a:ext cx="10353763"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394604721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4" y="609600"/>
            <a:ext cx="10353762" cy="1325563"/>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4" y="2088319"/>
            <a:ext cx="3298956" cy="823305"/>
          </a:xfrm>
        </p:spPr>
        <p:txBody>
          <a:bodyPr anchor="b">
            <a:noAutofit/>
          </a:bodyPr>
          <a:lstStyle>
            <a:lvl1pPr marL="0" indent="0" algn="ctr">
              <a:lnSpc>
                <a:spcPct val="100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4" y="2911624"/>
            <a:ext cx="3298956" cy="2879576"/>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4878" y="2088320"/>
            <a:ext cx="3298558" cy="823304"/>
          </a:xfrm>
        </p:spPr>
        <p:txBody>
          <a:bodyPr anchor="b">
            <a:noAutofit/>
          </a:bodyPr>
          <a:lstStyle>
            <a:lvl1pPr marL="0" indent="0" algn="ctr">
              <a:lnSpc>
                <a:spcPct val="100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4878" y="2911624"/>
            <a:ext cx="3299821" cy="2879576"/>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73298" y="2088320"/>
            <a:ext cx="3291211" cy="823304"/>
          </a:xfrm>
        </p:spPr>
        <p:txBody>
          <a:bodyPr anchor="b">
            <a:noAutofit/>
          </a:bodyPr>
          <a:lstStyle>
            <a:lvl1pPr marL="0" indent="0" algn="ctr">
              <a:lnSpc>
                <a:spcPct val="100000"/>
              </a:lnSpc>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76346" y="2911624"/>
            <a:ext cx="3291211" cy="2879576"/>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389904766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913795" y="609600"/>
            <a:ext cx="10353762" cy="1325563"/>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4195899"/>
            <a:ext cx="3298955" cy="576262"/>
          </a:xfrm>
        </p:spPr>
        <p:txBody>
          <a:bodyPr anchor="b">
            <a:noAutofit/>
          </a:bodyPr>
          <a:lstStyle>
            <a:lvl1pPr marL="0" indent="0" algn="ctr">
              <a:lnSpc>
                <a:spcPct val="100000"/>
              </a:lnSpc>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92020" y="2298987"/>
            <a:ext cx="2940050" cy="1524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772161"/>
            <a:ext cx="3298955" cy="101903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01" y="4195899"/>
            <a:ext cx="3298983" cy="576262"/>
          </a:xfrm>
        </p:spPr>
        <p:txBody>
          <a:bodyPr anchor="b">
            <a:noAutofit/>
          </a:bodyPr>
          <a:lstStyle>
            <a:lvl1pPr marL="0" indent="0" algn="ctr">
              <a:lnSpc>
                <a:spcPct val="100000"/>
              </a:lnSpc>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68996" y="2298987"/>
            <a:ext cx="2930525" cy="1524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348" y="4772160"/>
            <a:ext cx="3300336" cy="1019038"/>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73423" y="4195899"/>
            <a:ext cx="3289900" cy="576262"/>
          </a:xfrm>
        </p:spPr>
        <p:txBody>
          <a:bodyPr anchor="b">
            <a:noAutofit/>
          </a:bodyPr>
          <a:lstStyle>
            <a:lvl1pPr marL="0" indent="0" algn="ctr">
              <a:lnSpc>
                <a:spcPct val="100000"/>
              </a:lnSpc>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152803" y="2298987"/>
            <a:ext cx="2932113" cy="1524000"/>
          </a:xfrm>
          <a:prstGeom prst="roundRect">
            <a:avLst>
              <a:gd name="adj" fmla="val 0"/>
            </a:avLst>
          </a:prstGeom>
          <a:noFill/>
          <a:ln w="14605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73298" y="4772161"/>
            <a:ext cx="3294258" cy="1019037"/>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411689385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343694677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609599"/>
            <a:ext cx="254265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4" y="609599"/>
            <a:ext cx="7658705" cy="51816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805723D-9477-408D-B1DA-D003E2AD4DDD}" type="slidenum">
              <a:rPr lang="en-US" smtClean="0"/>
              <a:t>‹#›</a:t>
            </a:fld>
            <a:endParaRPr lang="en-US"/>
          </a:p>
        </p:txBody>
      </p:sp>
    </p:spTree>
    <p:extLst>
      <p:ext uri="{BB962C8B-B14F-4D97-AF65-F5344CB8AC3E}">
        <p14:creationId xmlns:p14="http://schemas.microsoft.com/office/powerpoint/2010/main" val="2327155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1" cy="1326321"/>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2096064"/>
            <a:ext cx="10353762" cy="369513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tint val="75000"/>
                  </a:schemeClr>
                </a:solidFill>
              </a:defRPr>
            </a:lvl1pPr>
          </a:lstStyle>
          <a:p>
            <a:fld id="{B61BEF0D-F0BB-DE4B-95CE-6DB70DBA9567}" type="datetimeFigureOut">
              <a:rPr lang="en-US" smtClean="0"/>
              <a:pPr/>
              <a:t>9/2/2025</a:t>
            </a:fld>
            <a:endParaRPr lang="en-US" dirty="0"/>
          </a:p>
        </p:txBody>
      </p:sp>
      <p:sp>
        <p:nvSpPr>
          <p:cNvPr id="5" name="Footer Placeholder 4"/>
          <p:cNvSpPr>
            <a:spLocks noGrp="1"/>
          </p:cNvSpPr>
          <p:nvPr>
            <p:ph type="ftr" sz="quarter" idx="3"/>
          </p:nvPr>
        </p:nvSpPr>
        <p:spPr>
          <a:xfrm>
            <a:off x="913794" y="5883275"/>
            <a:ext cx="6672865" cy="365125"/>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tint val="75000"/>
                  </a:schemeClr>
                </a:solidFill>
              </a:defRPr>
            </a:lvl1pPr>
          </a:lstStyle>
          <a:p>
            <a:fld id="{6805723D-9477-408D-B1DA-D003E2AD4DDD}" type="slidenum">
              <a:rPr lang="en-US" smtClean="0"/>
              <a:t>‹#›</a:t>
            </a:fld>
            <a:endParaRPr lang="en-US"/>
          </a:p>
        </p:txBody>
      </p:sp>
    </p:spTree>
    <p:extLst>
      <p:ext uri="{BB962C8B-B14F-4D97-AF65-F5344CB8AC3E}">
        <p14:creationId xmlns:p14="http://schemas.microsoft.com/office/powerpoint/2010/main" val="2635175659"/>
      </p:ext>
    </p:extLst>
  </p:cSld>
  <p:clrMap bg1="dk1" tx1="lt1" bg2="dk2" tx2="lt2" accent1="accent1" accent2="accent2" accent3="accent3" accent4="accent4" accent5="accent5" accent6="accent6" hlink="hlink" folHlink="folHlink"/>
  <p:sldLayoutIdLst>
    <p:sldLayoutId id="2147483763" r:id="rId1"/>
    <p:sldLayoutId id="2147483764" r:id="rId2"/>
    <p:sldLayoutId id="2147483765" r:id="rId3"/>
    <p:sldLayoutId id="2147483766" r:id="rId4"/>
    <p:sldLayoutId id="2147483767" r:id="rId5"/>
    <p:sldLayoutId id="2147483768" r:id="rId6"/>
    <p:sldLayoutId id="2147483769" r:id="rId7"/>
    <p:sldLayoutId id="2147483770" r:id="rId8"/>
    <p:sldLayoutId id="2147483771" r:id="rId9"/>
    <p:sldLayoutId id="2147483772" r:id="rId10"/>
    <p:sldLayoutId id="2147483773" r:id="rId11"/>
    <p:sldLayoutId id="2147483774" r:id="rId12"/>
    <p:sldLayoutId id="2147483775" r:id="rId13"/>
    <p:sldLayoutId id="2147483776" r:id="rId14"/>
    <p:sldLayoutId id="2147483777" r:id="rId15"/>
    <p:sldLayoutId id="2147483778" r:id="rId16"/>
    <p:sldLayoutId id="2147483779" r:id="rId17"/>
  </p:sldLayoutIdLst>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xStyles>
    <p:titleStyle>
      <a:lvl1pPr algn="ctr" defTabSz="914400" rtl="0" eaLnBrk="1" latinLnBrk="0" hangingPunct="1">
        <a:lnSpc>
          <a:spcPct val="90000"/>
        </a:lnSpc>
        <a:spcBef>
          <a:spcPct val="0"/>
        </a:spcBef>
        <a:buNone/>
        <a:defRPr sz="3400" b="1" i="0" kern="1200" cap="all">
          <a:solidFill>
            <a:schemeClr val="tx1"/>
          </a:solidFill>
          <a:effectLst>
            <a:outerShdw blurRad="50800" dist="63500" dir="2700000" algn="tl" rotWithShape="0">
              <a:srgbClr val="000000">
                <a:alpha val="48000"/>
              </a:srgbClr>
            </a:outerShdw>
          </a:effectLst>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EF67D6-52E7-3C27-1E0C-B9F29D54EB23}"/>
              </a:ext>
            </a:extLst>
          </p:cNvPr>
          <p:cNvSpPr>
            <a:spLocks noGrp="1"/>
          </p:cNvSpPr>
          <p:nvPr>
            <p:ph type="ctrTitle"/>
          </p:nvPr>
        </p:nvSpPr>
        <p:spPr>
          <a:xfrm>
            <a:off x="1595269" y="1122363"/>
            <a:ext cx="9001462" cy="2859702"/>
          </a:xfrm>
        </p:spPr>
        <p:txBody>
          <a:bodyPr/>
          <a:lstStyle/>
          <a:p>
            <a:r>
              <a:rPr lang="en-US" dirty="0"/>
              <a:t>	CAD DESIGNS</a:t>
            </a:r>
            <a:br>
              <a:rPr lang="en-US" dirty="0"/>
            </a:br>
            <a:br>
              <a:rPr lang="en-US" dirty="0"/>
            </a:br>
            <a:r>
              <a:rPr lang="en-US" dirty="0"/>
              <a:t>   </a:t>
            </a:r>
            <a:r>
              <a:rPr lang="en-US" sz="2000" dirty="0"/>
              <a:t>Using Autodesk fusion 360</a:t>
            </a:r>
          </a:p>
        </p:txBody>
      </p:sp>
      <p:sp>
        <p:nvSpPr>
          <p:cNvPr id="4" name="TextBox 3">
            <a:extLst>
              <a:ext uri="{FF2B5EF4-FFF2-40B4-BE49-F238E27FC236}">
                <a16:creationId xmlns:a16="http://schemas.microsoft.com/office/drawing/2014/main" id="{7ACC4E92-D683-CCAC-93C1-8AF8A6A42232}"/>
              </a:ext>
            </a:extLst>
          </p:cNvPr>
          <p:cNvSpPr txBox="1"/>
          <p:nvPr/>
        </p:nvSpPr>
        <p:spPr>
          <a:xfrm>
            <a:off x="8760543" y="5735637"/>
            <a:ext cx="3195484" cy="523220"/>
          </a:xfrm>
          <a:prstGeom prst="rect">
            <a:avLst/>
          </a:prstGeom>
          <a:noFill/>
        </p:spPr>
        <p:txBody>
          <a:bodyPr wrap="square" rtlCol="0">
            <a:spAutoFit/>
          </a:bodyPr>
          <a:lstStyle/>
          <a:p>
            <a:r>
              <a:rPr lang="en-US" sz="2800" dirty="0"/>
              <a:t>Aditya bansal</a:t>
            </a:r>
          </a:p>
        </p:txBody>
      </p:sp>
    </p:spTree>
    <p:extLst>
      <p:ext uri="{BB962C8B-B14F-4D97-AF65-F5344CB8AC3E}">
        <p14:creationId xmlns:p14="http://schemas.microsoft.com/office/powerpoint/2010/main" val="322625566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7A2EC2-077F-8025-DD4A-C7A5A054D6D3}"/>
              </a:ext>
            </a:extLst>
          </p:cNvPr>
          <p:cNvSpPr>
            <a:spLocks noGrp="1"/>
          </p:cNvSpPr>
          <p:nvPr>
            <p:ph type="ctrTitle"/>
          </p:nvPr>
        </p:nvSpPr>
        <p:spPr>
          <a:xfrm>
            <a:off x="1396181" y="147485"/>
            <a:ext cx="9200550" cy="1081548"/>
          </a:xfrm>
        </p:spPr>
        <p:txBody>
          <a:bodyPr/>
          <a:lstStyle/>
          <a:p>
            <a:r>
              <a:rPr lang="en-US" dirty="0"/>
              <a:t>Belt and pulley</a:t>
            </a:r>
          </a:p>
        </p:txBody>
      </p:sp>
      <p:pic>
        <p:nvPicPr>
          <p:cNvPr id="7" name="Picture 6">
            <a:extLst>
              <a:ext uri="{FF2B5EF4-FFF2-40B4-BE49-F238E27FC236}">
                <a16:creationId xmlns:a16="http://schemas.microsoft.com/office/drawing/2014/main" id="{5417618F-CA5E-0B0C-0F56-41E0ECF8E1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39318" y="1150373"/>
            <a:ext cx="4053890" cy="2871505"/>
          </a:xfrm>
          <a:prstGeom prst="rect">
            <a:avLst/>
          </a:prstGeom>
        </p:spPr>
      </p:pic>
      <p:pic>
        <p:nvPicPr>
          <p:cNvPr id="9" name="Picture 8">
            <a:extLst>
              <a:ext uri="{FF2B5EF4-FFF2-40B4-BE49-F238E27FC236}">
                <a16:creationId xmlns:a16="http://schemas.microsoft.com/office/drawing/2014/main" id="{5D79B8C0-A7B0-0155-5BF2-AB1CC7078D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793208" y="1150374"/>
            <a:ext cx="3398792" cy="2871505"/>
          </a:xfrm>
          <a:prstGeom prst="rect">
            <a:avLst/>
          </a:prstGeom>
        </p:spPr>
      </p:pic>
      <p:pic>
        <p:nvPicPr>
          <p:cNvPr id="11" name="Picture 10">
            <a:extLst>
              <a:ext uri="{FF2B5EF4-FFF2-40B4-BE49-F238E27FC236}">
                <a16:creationId xmlns:a16="http://schemas.microsoft.com/office/drawing/2014/main" id="{4BF08FC9-2305-978C-54FD-8A505DD677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10360" y="4021877"/>
            <a:ext cx="4111806" cy="2871505"/>
          </a:xfrm>
          <a:prstGeom prst="rect">
            <a:avLst/>
          </a:prstGeom>
        </p:spPr>
      </p:pic>
      <p:pic>
        <p:nvPicPr>
          <p:cNvPr id="13" name="Picture 12">
            <a:extLst>
              <a:ext uri="{FF2B5EF4-FFF2-40B4-BE49-F238E27FC236}">
                <a16:creationId xmlns:a16="http://schemas.microsoft.com/office/drawing/2014/main" id="{25C9CE1C-F09F-FEB3-A368-3FD548CC0E26}"/>
              </a:ext>
            </a:extLst>
          </p:cNvPr>
          <p:cNvPicPr>
            <a:picLocks noChangeAspect="1"/>
          </p:cNvPicPr>
          <p:nvPr/>
        </p:nvPicPr>
        <p:blipFill>
          <a:blip r:embed="rId5"/>
          <a:stretch>
            <a:fillRect/>
          </a:stretch>
        </p:blipFill>
        <p:spPr>
          <a:xfrm>
            <a:off x="8822167" y="3742890"/>
            <a:ext cx="3369834" cy="3115110"/>
          </a:xfrm>
          <a:prstGeom prst="rect">
            <a:avLst/>
          </a:prstGeom>
        </p:spPr>
      </p:pic>
      <p:sp>
        <p:nvSpPr>
          <p:cNvPr id="15" name="TextBox 14">
            <a:extLst>
              <a:ext uri="{FF2B5EF4-FFF2-40B4-BE49-F238E27FC236}">
                <a16:creationId xmlns:a16="http://schemas.microsoft.com/office/drawing/2014/main" id="{88260EFA-1141-18EB-5AE6-916A12C96484}"/>
              </a:ext>
            </a:extLst>
          </p:cNvPr>
          <p:cNvSpPr txBox="1"/>
          <p:nvPr/>
        </p:nvSpPr>
        <p:spPr>
          <a:xfrm>
            <a:off x="240891" y="1229032"/>
            <a:ext cx="4053890" cy="4801314"/>
          </a:xfrm>
          <a:prstGeom prst="rect">
            <a:avLst/>
          </a:prstGeom>
          <a:noFill/>
        </p:spPr>
        <p:txBody>
          <a:bodyPr wrap="square" rtlCol="0">
            <a:spAutoFit/>
          </a:bodyPr>
          <a:lstStyle/>
          <a:p>
            <a:r>
              <a:rPr lang="en-US" dirty="0"/>
              <a:t>I created a belt and pulley system in Autodesk Fusion 360, designing pulleys with precise measurements, mapping out the belt path, and putting it all together into a functional setup. It’s cool to see how the model shows rotational motion being transferred between shafts—something you’d find in engines, machines, or conveyor systems. Working on this really leveled up my CAD design skills, helped me get a better grip on assembly constraints, and gave me a clearer picture of how mechanical motion comes to life in 3D.</a:t>
            </a:r>
          </a:p>
          <a:p>
            <a:endParaRPr lang="en-US" dirty="0"/>
          </a:p>
        </p:txBody>
      </p:sp>
    </p:spTree>
    <p:extLst>
      <p:ext uri="{BB962C8B-B14F-4D97-AF65-F5344CB8AC3E}">
        <p14:creationId xmlns:p14="http://schemas.microsoft.com/office/powerpoint/2010/main" val="22216483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ABADED-6ACB-1C96-2030-7A955D8BFF2B}"/>
              </a:ext>
            </a:extLst>
          </p:cNvPr>
          <p:cNvSpPr>
            <a:spLocks noGrp="1"/>
          </p:cNvSpPr>
          <p:nvPr>
            <p:ph type="ctrTitle"/>
          </p:nvPr>
        </p:nvSpPr>
        <p:spPr>
          <a:xfrm>
            <a:off x="1595269" y="88490"/>
            <a:ext cx="9001462" cy="1002891"/>
          </a:xfrm>
        </p:spPr>
        <p:txBody>
          <a:bodyPr/>
          <a:lstStyle/>
          <a:p>
            <a:r>
              <a:rPr lang="en-US" dirty="0"/>
              <a:t>Double helical gear</a:t>
            </a:r>
          </a:p>
        </p:txBody>
      </p:sp>
      <p:pic>
        <p:nvPicPr>
          <p:cNvPr id="5" name="Picture 4">
            <a:extLst>
              <a:ext uri="{FF2B5EF4-FFF2-40B4-BE49-F238E27FC236}">
                <a16:creationId xmlns:a16="http://schemas.microsoft.com/office/drawing/2014/main" id="{1DC3A5C9-3C0B-B0DB-7629-126B53C360A0}"/>
              </a:ext>
            </a:extLst>
          </p:cNvPr>
          <p:cNvPicPr>
            <a:picLocks noChangeAspect="1"/>
          </p:cNvPicPr>
          <p:nvPr/>
        </p:nvPicPr>
        <p:blipFill>
          <a:blip r:embed="rId2"/>
          <a:stretch>
            <a:fillRect/>
          </a:stretch>
        </p:blipFill>
        <p:spPr>
          <a:xfrm>
            <a:off x="6096000" y="963099"/>
            <a:ext cx="6126054" cy="6004946"/>
          </a:xfrm>
          <a:prstGeom prst="rect">
            <a:avLst/>
          </a:prstGeom>
        </p:spPr>
      </p:pic>
      <p:sp>
        <p:nvSpPr>
          <p:cNvPr id="10" name="TextBox 9">
            <a:extLst>
              <a:ext uri="{FF2B5EF4-FFF2-40B4-BE49-F238E27FC236}">
                <a16:creationId xmlns:a16="http://schemas.microsoft.com/office/drawing/2014/main" id="{2E792FAE-0841-711E-0DA3-EE6B73AC169F}"/>
              </a:ext>
            </a:extLst>
          </p:cNvPr>
          <p:cNvSpPr txBox="1"/>
          <p:nvPr/>
        </p:nvSpPr>
        <p:spPr>
          <a:xfrm>
            <a:off x="530941" y="2192886"/>
            <a:ext cx="5407742" cy="3693319"/>
          </a:xfrm>
          <a:prstGeom prst="rect">
            <a:avLst/>
          </a:prstGeom>
          <a:noFill/>
        </p:spPr>
        <p:txBody>
          <a:bodyPr wrap="square" rtlCol="0">
            <a:spAutoFit/>
          </a:bodyPr>
          <a:lstStyle/>
          <a:p>
            <a:r>
              <a:rPr lang="en-US" dirty="0"/>
              <a:t>I designed a double helical gear in Autodesk Fusion 360, crafting a gear with opposing helix angles on a single blank to balance out axial thrust while keeping power transmission smooth. The process involved nailing the tooth profiles, setting up helical constraints, and assembling the 3D gear geometry. This project was a hands-on dive into gear design, sharpening my precision modeling skills and deepening my understanding of how loads are distributed in complex gear systems.</a:t>
            </a:r>
          </a:p>
          <a:p>
            <a:endParaRPr lang="en-US" dirty="0"/>
          </a:p>
          <a:p>
            <a:endParaRPr lang="en-US" dirty="0"/>
          </a:p>
        </p:txBody>
      </p:sp>
    </p:spTree>
    <p:extLst>
      <p:ext uri="{BB962C8B-B14F-4D97-AF65-F5344CB8AC3E}">
        <p14:creationId xmlns:p14="http://schemas.microsoft.com/office/powerpoint/2010/main" val="109093578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0F040-95B4-1C12-9656-9C184F074B75}"/>
              </a:ext>
            </a:extLst>
          </p:cNvPr>
          <p:cNvSpPr>
            <a:spLocks noGrp="1"/>
          </p:cNvSpPr>
          <p:nvPr>
            <p:ph type="ctrTitle"/>
          </p:nvPr>
        </p:nvSpPr>
        <p:spPr>
          <a:xfrm>
            <a:off x="1595269" y="0"/>
            <a:ext cx="9001462" cy="1415845"/>
          </a:xfrm>
        </p:spPr>
        <p:txBody>
          <a:bodyPr/>
          <a:lstStyle/>
          <a:p>
            <a:r>
              <a:rPr lang="en-US" dirty="0"/>
              <a:t>Slider Crank Mechanism</a:t>
            </a:r>
          </a:p>
        </p:txBody>
      </p:sp>
      <p:sp>
        <p:nvSpPr>
          <p:cNvPr id="3" name="Subtitle 2">
            <a:extLst>
              <a:ext uri="{FF2B5EF4-FFF2-40B4-BE49-F238E27FC236}">
                <a16:creationId xmlns:a16="http://schemas.microsoft.com/office/drawing/2014/main" id="{77FB6627-1CDE-48A5-3DCF-73C67FC9AA37}"/>
              </a:ext>
            </a:extLst>
          </p:cNvPr>
          <p:cNvSpPr>
            <a:spLocks noGrp="1"/>
          </p:cNvSpPr>
          <p:nvPr>
            <p:ph type="subTitle" idx="1"/>
          </p:nvPr>
        </p:nvSpPr>
        <p:spPr>
          <a:xfrm>
            <a:off x="963561" y="1710813"/>
            <a:ext cx="5860026" cy="4395019"/>
          </a:xfrm>
        </p:spPr>
        <p:txBody>
          <a:bodyPr>
            <a:normAutofit fontScale="85000" lnSpcReduction="10000"/>
          </a:bodyPr>
          <a:lstStyle/>
          <a:p>
            <a:r>
              <a:rPr lang="en-US" dirty="0">
                <a:effectLst/>
              </a:rPr>
              <a:t>I built a slider-crank mechanism in Autodesk Fusion 360, a classic setup that transforms rotary motion into back-and-forth motion (or the other way around). I designed the crank, connecting rod, and slider from scratch, then pieced them together with the right motion constraints. This project was a fun way to dig into the kinematics of linkages, get a feel for how motion transfers in mechanical systems, and level up my CAD assembly and simulation skills while visualizing the whole thing in action.</a:t>
            </a:r>
          </a:p>
          <a:p>
            <a:endParaRPr lang="en-US" dirty="0"/>
          </a:p>
        </p:txBody>
      </p:sp>
      <p:pic>
        <p:nvPicPr>
          <p:cNvPr id="5" name="Picture 4">
            <a:extLst>
              <a:ext uri="{FF2B5EF4-FFF2-40B4-BE49-F238E27FC236}">
                <a16:creationId xmlns:a16="http://schemas.microsoft.com/office/drawing/2014/main" id="{46BB1B14-69E7-0C7E-264A-8674FD70F7C2}"/>
              </a:ext>
            </a:extLst>
          </p:cNvPr>
          <p:cNvPicPr>
            <a:picLocks noChangeAspect="1"/>
          </p:cNvPicPr>
          <p:nvPr/>
        </p:nvPicPr>
        <p:blipFill>
          <a:blip r:embed="rId2"/>
          <a:stretch>
            <a:fillRect/>
          </a:stretch>
        </p:blipFill>
        <p:spPr>
          <a:xfrm>
            <a:off x="7508054" y="2203082"/>
            <a:ext cx="4162836" cy="4250404"/>
          </a:xfrm>
          <a:prstGeom prst="rect">
            <a:avLst/>
          </a:prstGeom>
        </p:spPr>
      </p:pic>
    </p:spTree>
    <p:extLst>
      <p:ext uri="{BB962C8B-B14F-4D97-AF65-F5344CB8AC3E}">
        <p14:creationId xmlns:p14="http://schemas.microsoft.com/office/powerpoint/2010/main" val="3599118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05A5AF-573D-2EAD-1099-CD26B031726E}"/>
              </a:ext>
            </a:extLst>
          </p:cNvPr>
          <p:cNvSpPr>
            <a:spLocks noGrp="1"/>
          </p:cNvSpPr>
          <p:nvPr>
            <p:ph type="ctrTitle"/>
          </p:nvPr>
        </p:nvSpPr>
        <p:spPr>
          <a:xfrm>
            <a:off x="1595269" y="0"/>
            <a:ext cx="9001462" cy="934065"/>
          </a:xfrm>
        </p:spPr>
        <p:txBody>
          <a:bodyPr>
            <a:normAutofit/>
          </a:bodyPr>
          <a:lstStyle/>
          <a:p>
            <a:r>
              <a:rPr lang="en-US" dirty="0"/>
              <a:t>2 stroke engine</a:t>
            </a:r>
          </a:p>
        </p:txBody>
      </p:sp>
      <p:sp>
        <p:nvSpPr>
          <p:cNvPr id="3" name="Subtitle 2">
            <a:extLst>
              <a:ext uri="{FF2B5EF4-FFF2-40B4-BE49-F238E27FC236}">
                <a16:creationId xmlns:a16="http://schemas.microsoft.com/office/drawing/2014/main" id="{EAEAFB7E-3426-56EF-4E38-EE3AB7A8B20F}"/>
              </a:ext>
            </a:extLst>
          </p:cNvPr>
          <p:cNvSpPr>
            <a:spLocks noGrp="1"/>
          </p:cNvSpPr>
          <p:nvPr>
            <p:ph type="subTitle" idx="1"/>
          </p:nvPr>
        </p:nvSpPr>
        <p:spPr>
          <a:xfrm>
            <a:off x="521111" y="1376515"/>
            <a:ext cx="6990734" cy="5211097"/>
          </a:xfrm>
        </p:spPr>
        <p:txBody>
          <a:bodyPr/>
          <a:lstStyle/>
          <a:p>
            <a:r>
              <a:rPr lang="en-US" dirty="0">
                <a:effectLst/>
              </a:rPr>
              <a:t>I designed a 2-stroke engine model in Autodesk Fusion 360, putting together the piston-cylinder assembly, crankshaft, connecting rod, and ports. It’s pretty neat to see how the model shows a full power cycle in just two piston strokes, packing more punch than a 4-stroke </a:t>
            </a:r>
            <a:r>
              <a:rPr lang="en-US" dirty="0" err="1">
                <a:effectLst/>
              </a:rPr>
              <a:t>engine.This</a:t>
            </a:r>
            <a:r>
              <a:rPr lang="en-US" dirty="0">
                <a:effectLst/>
              </a:rPr>
              <a:t> project was a great way to level up my skills in handling complex assemblies, running motion simulations, and really getting how internal combustion engines work.</a:t>
            </a:r>
          </a:p>
          <a:p>
            <a:endParaRPr lang="en-US" dirty="0"/>
          </a:p>
        </p:txBody>
      </p:sp>
      <p:pic>
        <p:nvPicPr>
          <p:cNvPr id="5" name="Picture 4">
            <a:extLst>
              <a:ext uri="{FF2B5EF4-FFF2-40B4-BE49-F238E27FC236}">
                <a16:creationId xmlns:a16="http://schemas.microsoft.com/office/drawing/2014/main" id="{BB315F23-5391-2F10-F1F5-388BADD48586}"/>
              </a:ext>
            </a:extLst>
          </p:cNvPr>
          <p:cNvPicPr>
            <a:picLocks noChangeAspect="1"/>
          </p:cNvPicPr>
          <p:nvPr/>
        </p:nvPicPr>
        <p:blipFill>
          <a:blip r:embed="rId2"/>
          <a:stretch>
            <a:fillRect/>
          </a:stretch>
        </p:blipFill>
        <p:spPr>
          <a:xfrm>
            <a:off x="7806515" y="1448751"/>
            <a:ext cx="4385485" cy="5313296"/>
          </a:xfrm>
          <a:prstGeom prst="rect">
            <a:avLst/>
          </a:prstGeom>
        </p:spPr>
      </p:pic>
    </p:spTree>
    <p:extLst>
      <p:ext uri="{BB962C8B-B14F-4D97-AF65-F5344CB8AC3E}">
        <p14:creationId xmlns:p14="http://schemas.microsoft.com/office/powerpoint/2010/main" val="361098931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E83CCE-818B-58F2-D34B-226B2642E343}"/>
              </a:ext>
            </a:extLst>
          </p:cNvPr>
          <p:cNvSpPr>
            <a:spLocks noGrp="1"/>
          </p:cNvSpPr>
          <p:nvPr>
            <p:ph type="ctrTitle"/>
          </p:nvPr>
        </p:nvSpPr>
        <p:spPr>
          <a:xfrm>
            <a:off x="1595269" y="98323"/>
            <a:ext cx="9001462" cy="1376516"/>
          </a:xfrm>
        </p:spPr>
        <p:txBody>
          <a:bodyPr>
            <a:normAutofit fontScale="90000"/>
          </a:bodyPr>
          <a:lstStyle/>
          <a:p>
            <a:r>
              <a:rPr lang="en-US" dirty="0"/>
              <a:t>Individual components for 2 stroke engine</a:t>
            </a:r>
          </a:p>
        </p:txBody>
      </p:sp>
      <p:pic>
        <p:nvPicPr>
          <p:cNvPr id="5" name="Picture 4">
            <a:extLst>
              <a:ext uri="{FF2B5EF4-FFF2-40B4-BE49-F238E27FC236}">
                <a16:creationId xmlns:a16="http://schemas.microsoft.com/office/drawing/2014/main" id="{3C6856FD-8CE9-4A9A-2514-B05497F1CA34}"/>
              </a:ext>
            </a:extLst>
          </p:cNvPr>
          <p:cNvPicPr>
            <a:picLocks noChangeAspect="1"/>
          </p:cNvPicPr>
          <p:nvPr/>
        </p:nvPicPr>
        <p:blipFill>
          <a:blip r:embed="rId2"/>
          <a:stretch>
            <a:fillRect/>
          </a:stretch>
        </p:blipFill>
        <p:spPr>
          <a:xfrm>
            <a:off x="-23022" y="1538430"/>
            <a:ext cx="2507397" cy="2611872"/>
          </a:xfrm>
          <a:prstGeom prst="rect">
            <a:avLst/>
          </a:prstGeom>
        </p:spPr>
      </p:pic>
      <p:pic>
        <p:nvPicPr>
          <p:cNvPr id="7" name="Picture 6">
            <a:extLst>
              <a:ext uri="{FF2B5EF4-FFF2-40B4-BE49-F238E27FC236}">
                <a16:creationId xmlns:a16="http://schemas.microsoft.com/office/drawing/2014/main" id="{D6B770DF-D55E-BF11-E91B-E8148F71E4D3}"/>
              </a:ext>
            </a:extLst>
          </p:cNvPr>
          <p:cNvPicPr>
            <a:picLocks noChangeAspect="1"/>
          </p:cNvPicPr>
          <p:nvPr/>
        </p:nvPicPr>
        <p:blipFill>
          <a:blip r:embed="rId3"/>
          <a:stretch>
            <a:fillRect/>
          </a:stretch>
        </p:blipFill>
        <p:spPr>
          <a:xfrm>
            <a:off x="2484375" y="1538430"/>
            <a:ext cx="2685410" cy="2617865"/>
          </a:xfrm>
          <a:prstGeom prst="rect">
            <a:avLst/>
          </a:prstGeom>
        </p:spPr>
      </p:pic>
      <p:pic>
        <p:nvPicPr>
          <p:cNvPr id="9" name="Picture 8">
            <a:extLst>
              <a:ext uri="{FF2B5EF4-FFF2-40B4-BE49-F238E27FC236}">
                <a16:creationId xmlns:a16="http://schemas.microsoft.com/office/drawing/2014/main" id="{8EE1B1C3-405F-C741-8EA3-EBD3ABDB3F08}"/>
              </a:ext>
            </a:extLst>
          </p:cNvPr>
          <p:cNvPicPr>
            <a:picLocks noChangeAspect="1"/>
          </p:cNvPicPr>
          <p:nvPr/>
        </p:nvPicPr>
        <p:blipFill>
          <a:blip r:embed="rId4"/>
          <a:stretch>
            <a:fillRect/>
          </a:stretch>
        </p:blipFill>
        <p:spPr>
          <a:xfrm>
            <a:off x="5179218" y="1538430"/>
            <a:ext cx="3293063" cy="2634809"/>
          </a:xfrm>
          <a:prstGeom prst="rect">
            <a:avLst/>
          </a:prstGeom>
        </p:spPr>
      </p:pic>
      <p:pic>
        <p:nvPicPr>
          <p:cNvPr id="11" name="Picture 10">
            <a:extLst>
              <a:ext uri="{FF2B5EF4-FFF2-40B4-BE49-F238E27FC236}">
                <a16:creationId xmlns:a16="http://schemas.microsoft.com/office/drawing/2014/main" id="{3FD3536B-F256-0559-201F-D81B34494DCB}"/>
              </a:ext>
            </a:extLst>
          </p:cNvPr>
          <p:cNvPicPr>
            <a:picLocks noChangeAspect="1"/>
          </p:cNvPicPr>
          <p:nvPr/>
        </p:nvPicPr>
        <p:blipFill>
          <a:blip r:embed="rId5"/>
          <a:stretch>
            <a:fillRect/>
          </a:stretch>
        </p:blipFill>
        <p:spPr>
          <a:xfrm>
            <a:off x="8481714" y="1518751"/>
            <a:ext cx="1573898" cy="2634809"/>
          </a:xfrm>
          <a:prstGeom prst="rect">
            <a:avLst/>
          </a:prstGeom>
        </p:spPr>
      </p:pic>
      <p:pic>
        <p:nvPicPr>
          <p:cNvPr id="13" name="Picture 12">
            <a:extLst>
              <a:ext uri="{FF2B5EF4-FFF2-40B4-BE49-F238E27FC236}">
                <a16:creationId xmlns:a16="http://schemas.microsoft.com/office/drawing/2014/main" id="{7F3C76EC-BBD1-3D6D-5033-A8606ACE3C04}"/>
              </a:ext>
            </a:extLst>
          </p:cNvPr>
          <p:cNvPicPr>
            <a:picLocks noChangeAspect="1"/>
          </p:cNvPicPr>
          <p:nvPr/>
        </p:nvPicPr>
        <p:blipFill>
          <a:blip r:embed="rId6"/>
          <a:stretch>
            <a:fillRect/>
          </a:stretch>
        </p:blipFill>
        <p:spPr>
          <a:xfrm>
            <a:off x="10055612" y="1474839"/>
            <a:ext cx="2195796" cy="2678722"/>
          </a:xfrm>
          <a:prstGeom prst="rect">
            <a:avLst/>
          </a:prstGeom>
        </p:spPr>
      </p:pic>
      <p:sp>
        <p:nvSpPr>
          <p:cNvPr id="14" name="TextBox 13">
            <a:extLst>
              <a:ext uri="{FF2B5EF4-FFF2-40B4-BE49-F238E27FC236}">
                <a16:creationId xmlns:a16="http://schemas.microsoft.com/office/drawing/2014/main" id="{17A30F68-C2D2-04FC-6DC4-6DE319A0FB2D}"/>
              </a:ext>
            </a:extLst>
          </p:cNvPr>
          <p:cNvSpPr txBox="1"/>
          <p:nvPr/>
        </p:nvSpPr>
        <p:spPr>
          <a:xfrm>
            <a:off x="157316" y="4542503"/>
            <a:ext cx="1838632" cy="369332"/>
          </a:xfrm>
          <a:prstGeom prst="rect">
            <a:avLst/>
          </a:prstGeom>
          <a:noFill/>
        </p:spPr>
        <p:txBody>
          <a:bodyPr wrap="square" rtlCol="0">
            <a:spAutoFit/>
          </a:bodyPr>
          <a:lstStyle/>
          <a:p>
            <a:r>
              <a:rPr lang="en-US" dirty="0"/>
              <a:t>       Upper part</a:t>
            </a:r>
          </a:p>
        </p:txBody>
      </p:sp>
      <p:sp>
        <p:nvSpPr>
          <p:cNvPr id="15" name="TextBox 14">
            <a:extLst>
              <a:ext uri="{FF2B5EF4-FFF2-40B4-BE49-F238E27FC236}">
                <a16:creationId xmlns:a16="http://schemas.microsoft.com/office/drawing/2014/main" id="{C9BDDC53-6AA5-6385-EB85-45CFF66BFBE0}"/>
              </a:ext>
            </a:extLst>
          </p:cNvPr>
          <p:cNvSpPr txBox="1"/>
          <p:nvPr/>
        </p:nvSpPr>
        <p:spPr>
          <a:xfrm>
            <a:off x="2625213" y="4621161"/>
            <a:ext cx="2281084" cy="369332"/>
          </a:xfrm>
          <a:prstGeom prst="rect">
            <a:avLst/>
          </a:prstGeom>
          <a:noFill/>
        </p:spPr>
        <p:txBody>
          <a:bodyPr wrap="square" rtlCol="0">
            <a:spAutoFit/>
          </a:bodyPr>
          <a:lstStyle/>
          <a:p>
            <a:r>
              <a:rPr lang="en-US" dirty="0"/>
              <a:t>         Lower part</a:t>
            </a:r>
          </a:p>
        </p:txBody>
      </p:sp>
      <p:sp>
        <p:nvSpPr>
          <p:cNvPr id="16" name="TextBox 15">
            <a:extLst>
              <a:ext uri="{FF2B5EF4-FFF2-40B4-BE49-F238E27FC236}">
                <a16:creationId xmlns:a16="http://schemas.microsoft.com/office/drawing/2014/main" id="{7939B263-3760-5756-4C30-8D02F3421701}"/>
              </a:ext>
            </a:extLst>
          </p:cNvPr>
          <p:cNvSpPr txBox="1"/>
          <p:nvPr/>
        </p:nvSpPr>
        <p:spPr>
          <a:xfrm>
            <a:off x="5146457" y="4581832"/>
            <a:ext cx="2965156" cy="369332"/>
          </a:xfrm>
          <a:prstGeom prst="rect">
            <a:avLst/>
          </a:prstGeom>
          <a:noFill/>
        </p:spPr>
        <p:txBody>
          <a:bodyPr wrap="square" rtlCol="0">
            <a:spAutoFit/>
          </a:bodyPr>
          <a:lstStyle/>
          <a:p>
            <a:r>
              <a:rPr lang="en-US" dirty="0"/>
              <a:t>            Crankshaft</a:t>
            </a:r>
          </a:p>
        </p:txBody>
      </p:sp>
      <p:sp>
        <p:nvSpPr>
          <p:cNvPr id="17" name="TextBox 16">
            <a:extLst>
              <a:ext uri="{FF2B5EF4-FFF2-40B4-BE49-F238E27FC236}">
                <a16:creationId xmlns:a16="http://schemas.microsoft.com/office/drawing/2014/main" id="{C0686AC1-60CE-EADE-FFC9-D66912AE722D}"/>
              </a:ext>
            </a:extLst>
          </p:cNvPr>
          <p:cNvSpPr txBox="1"/>
          <p:nvPr/>
        </p:nvSpPr>
        <p:spPr>
          <a:xfrm>
            <a:off x="8308258" y="4689987"/>
            <a:ext cx="1747354" cy="369332"/>
          </a:xfrm>
          <a:prstGeom prst="rect">
            <a:avLst/>
          </a:prstGeom>
          <a:noFill/>
        </p:spPr>
        <p:txBody>
          <a:bodyPr wrap="square" rtlCol="0">
            <a:spAutoFit/>
          </a:bodyPr>
          <a:lstStyle/>
          <a:p>
            <a:r>
              <a:rPr lang="en-US" dirty="0"/>
              <a:t>Crank</a:t>
            </a:r>
          </a:p>
        </p:txBody>
      </p:sp>
      <p:sp>
        <p:nvSpPr>
          <p:cNvPr id="18" name="TextBox 17">
            <a:extLst>
              <a:ext uri="{FF2B5EF4-FFF2-40B4-BE49-F238E27FC236}">
                <a16:creationId xmlns:a16="http://schemas.microsoft.com/office/drawing/2014/main" id="{777E8035-D25E-B7C3-64AB-3BA2A9BED6F1}"/>
              </a:ext>
            </a:extLst>
          </p:cNvPr>
          <p:cNvSpPr txBox="1"/>
          <p:nvPr/>
        </p:nvSpPr>
        <p:spPr>
          <a:xfrm>
            <a:off x="10146890" y="4621161"/>
            <a:ext cx="2045110" cy="369332"/>
          </a:xfrm>
          <a:prstGeom prst="rect">
            <a:avLst/>
          </a:prstGeom>
          <a:noFill/>
        </p:spPr>
        <p:txBody>
          <a:bodyPr wrap="square" rtlCol="0">
            <a:spAutoFit/>
          </a:bodyPr>
          <a:lstStyle/>
          <a:p>
            <a:r>
              <a:rPr lang="en-US" dirty="0"/>
              <a:t>Piston</a:t>
            </a:r>
          </a:p>
        </p:txBody>
      </p:sp>
    </p:spTree>
    <p:extLst>
      <p:ext uri="{BB962C8B-B14F-4D97-AF65-F5344CB8AC3E}">
        <p14:creationId xmlns:p14="http://schemas.microsoft.com/office/powerpoint/2010/main" val="4759230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96A708-DD09-B700-8B2D-222AE5F3E7DA}"/>
              </a:ext>
            </a:extLst>
          </p:cNvPr>
          <p:cNvSpPr>
            <a:spLocks noGrp="1"/>
          </p:cNvSpPr>
          <p:nvPr>
            <p:ph type="ctrTitle"/>
          </p:nvPr>
        </p:nvSpPr>
        <p:spPr>
          <a:xfrm>
            <a:off x="1595269" y="0"/>
            <a:ext cx="9001462" cy="786581"/>
          </a:xfrm>
        </p:spPr>
        <p:txBody>
          <a:bodyPr/>
          <a:lstStyle/>
          <a:p>
            <a:r>
              <a:rPr lang="en-US" dirty="0"/>
              <a:t>Servo motor</a:t>
            </a:r>
          </a:p>
        </p:txBody>
      </p:sp>
      <p:pic>
        <p:nvPicPr>
          <p:cNvPr id="5" name="Picture 4">
            <a:extLst>
              <a:ext uri="{FF2B5EF4-FFF2-40B4-BE49-F238E27FC236}">
                <a16:creationId xmlns:a16="http://schemas.microsoft.com/office/drawing/2014/main" id="{74D36B27-43CD-3741-67A2-A6977DC71DD3}"/>
              </a:ext>
            </a:extLst>
          </p:cNvPr>
          <p:cNvPicPr>
            <a:picLocks noChangeAspect="1"/>
          </p:cNvPicPr>
          <p:nvPr/>
        </p:nvPicPr>
        <p:blipFill>
          <a:blip r:embed="rId2"/>
          <a:stretch>
            <a:fillRect/>
          </a:stretch>
        </p:blipFill>
        <p:spPr>
          <a:xfrm>
            <a:off x="6981098" y="1106501"/>
            <a:ext cx="5210902" cy="5751499"/>
          </a:xfrm>
          <a:prstGeom prst="rect">
            <a:avLst/>
          </a:prstGeom>
        </p:spPr>
      </p:pic>
      <p:sp>
        <p:nvSpPr>
          <p:cNvPr id="6" name="Rectangle 1">
            <a:extLst>
              <a:ext uri="{FF2B5EF4-FFF2-40B4-BE49-F238E27FC236}">
                <a16:creationId xmlns:a16="http://schemas.microsoft.com/office/drawing/2014/main" id="{FEADD7B4-37A6-726D-2C94-D4A2855F8FE7}"/>
              </a:ext>
            </a:extLst>
          </p:cNvPr>
          <p:cNvSpPr>
            <a:spLocks noGrp="1" noChangeArrowheads="1"/>
          </p:cNvSpPr>
          <p:nvPr>
            <p:ph type="subTitle" idx="1"/>
          </p:nvPr>
        </p:nvSpPr>
        <p:spPr bwMode="auto">
          <a:xfrm>
            <a:off x="995002" y="1722790"/>
            <a:ext cx="5100998" cy="30469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effectLst/>
                <a:latin typeface="Arial" panose="020B0604020202020204" pitchFamily="34" charset="0"/>
                <a:cs typeface="Arial" panose="020B0604020202020204" pitchFamily="34" charset="0"/>
              </a:rPr>
              <a:t>I crafted a servo motor model in Autodesk Fusion 360, building out the casing, rotor, shaft, and gear setup. It’s cool to see how the model captures the compact design of servo motors, which are key for nailing precise angular control in robotics, CNC machines, and automation gear. This project really boosted my grasp of electromechanical parts, sharpened my precision modeling, and leveled up my CAD detailing and assembly design skills.</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1808097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AB53E-FDA6-8389-1A99-121609151007}"/>
              </a:ext>
            </a:extLst>
          </p:cNvPr>
          <p:cNvSpPr>
            <a:spLocks noGrp="1"/>
          </p:cNvSpPr>
          <p:nvPr>
            <p:ph type="ctrTitle"/>
          </p:nvPr>
        </p:nvSpPr>
        <p:spPr>
          <a:xfrm>
            <a:off x="1595269" y="88490"/>
            <a:ext cx="9001462" cy="1415845"/>
          </a:xfrm>
        </p:spPr>
        <p:txBody>
          <a:bodyPr>
            <a:normAutofit/>
          </a:bodyPr>
          <a:lstStyle/>
          <a:p>
            <a:r>
              <a:rPr lang="en-US" dirty="0"/>
              <a:t>Autonomous UNDERWATER VEHICLE</a:t>
            </a:r>
          </a:p>
        </p:txBody>
      </p:sp>
      <p:pic>
        <p:nvPicPr>
          <p:cNvPr id="5" name="Picture 4">
            <a:extLst>
              <a:ext uri="{FF2B5EF4-FFF2-40B4-BE49-F238E27FC236}">
                <a16:creationId xmlns:a16="http://schemas.microsoft.com/office/drawing/2014/main" id="{979E8199-A2E2-A065-706B-49843036B28F}"/>
              </a:ext>
            </a:extLst>
          </p:cNvPr>
          <p:cNvPicPr>
            <a:picLocks noChangeAspect="1"/>
          </p:cNvPicPr>
          <p:nvPr/>
        </p:nvPicPr>
        <p:blipFill>
          <a:blip r:embed="rId2"/>
          <a:stretch>
            <a:fillRect/>
          </a:stretch>
        </p:blipFill>
        <p:spPr>
          <a:xfrm>
            <a:off x="5979789" y="1600200"/>
            <a:ext cx="6212211" cy="5261618"/>
          </a:xfrm>
          <a:prstGeom prst="rect">
            <a:avLst/>
          </a:prstGeom>
        </p:spPr>
      </p:pic>
      <p:sp>
        <p:nvSpPr>
          <p:cNvPr id="9" name="Subtitle 8">
            <a:extLst>
              <a:ext uri="{FF2B5EF4-FFF2-40B4-BE49-F238E27FC236}">
                <a16:creationId xmlns:a16="http://schemas.microsoft.com/office/drawing/2014/main" id="{88130813-9B58-3BB3-28D8-EAD70BAF4AC5}"/>
              </a:ext>
            </a:extLst>
          </p:cNvPr>
          <p:cNvSpPr>
            <a:spLocks noGrp="1"/>
          </p:cNvSpPr>
          <p:nvPr>
            <p:ph type="subTitle" idx="1"/>
          </p:nvPr>
        </p:nvSpPr>
        <p:spPr>
          <a:xfrm>
            <a:off x="167149" y="1600200"/>
            <a:ext cx="5683046" cy="5169310"/>
          </a:xfrm>
        </p:spPr>
        <p:txBody>
          <a:bodyPr>
            <a:normAutofit/>
          </a:bodyPr>
          <a:lstStyle/>
          <a:p>
            <a:r>
              <a:rPr lang="en-US" sz="1800" dirty="0">
                <a:effectLst/>
              </a:rPr>
              <a:t>I'm diving into designing and building an Autonomous Underwater Vehicle (AUV) for Gujarat </a:t>
            </a:r>
            <a:r>
              <a:rPr lang="en-US" sz="1800" dirty="0" err="1">
                <a:effectLst/>
              </a:rPr>
              <a:t>Robofest</a:t>
            </a:r>
            <a:r>
              <a:rPr lang="en-US" sz="1800" dirty="0">
                <a:effectLst/>
              </a:rPr>
              <a:t> 5.0, aiming to create a tough, self-sufficient underwater robot that can navigate, detect objects, and tackle tasks without any human nudging.</a:t>
            </a:r>
            <a:r>
              <a:rPr lang="en-US" dirty="0">
                <a:effectLst/>
              </a:rPr>
              <a:t> </a:t>
            </a:r>
            <a:r>
              <a:rPr lang="en-US" sz="1900" dirty="0">
                <a:effectLst/>
              </a:rPr>
              <a:t>The design process has me shaping the hull, hooking up the propulsion system, tweaking buoyancy control, and strategically placing onboard sensors to keep the AUV stable and nimble. Using CAD tools, I’ve put together a detailed 3D model, complete with cutouts for thrusters, sensor mounts, and a snug spot for the electronics.</a:t>
            </a:r>
          </a:p>
          <a:p>
            <a:endParaRPr lang="en-US" sz="1800" dirty="0">
              <a:effectLst/>
            </a:endParaRPr>
          </a:p>
          <a:p>
            <a:endParaRPr lang="en-US" dirty="0"/>
          </a:p>
        </p:txBody>
      </p:sp>
    </p:spTree>
    <p:extLst>
      <p:ext uri="{BB962C8B-B14F-4D97-AF65-F5344CB8AC3E}">
        <p14:creationId xmlns:p14="http://schemas.microsoft.com/office/powerpoint/2010/main" val="354727980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156D90-DA92-D02D-8251-92E9C584E239}"/>
              </a:ext>
            </a:extLst>
          </p:cNvPr>
          <p:cNvSpPr>
            <a:spLocks noGrp="1"/>
          </p:cNvSpPr>
          <p:nvPr>
            <p:ph type="ctrTitle"/>
          </p:nvPr>
        </p:nvSpPr>
        <p:spPr>
          <a:xfrm>
            <a:off x="1595269" y="1"/>
            <a:ext cx="9001462" cy="1582994"/>
          </a:xfrm>
        </p:spPr>
        <p:txBody>
          <a:bodyPr>
            <a:normAutofit/>
          </a:bodyPr>
          <a:lstStyle/>
          <a:p>
            <a:r>
              <a:rPr lang="en-US" dirty="0"/>
              <a:t>Individual components of </a:t>
            </a:r>
            <a:r>
              <a:rPr lang="en-US" dirty="0" err="1"/>
              <a:t>auv</a:t>
            </a:r>
            <a:endParaRPr lang="en-US" dirty="0"/>
          </a:p>
        </p:txBody>
      </p:sp>
      <p:pic>
        <p:nvPicPr>
          <p:cNvPr id="5" name="Picture 4">
            <a:extLst>
              <a:ext uri="{FF2B5EF4-FFF2-40B4-BE49-F238E27FC236}">
                <a16:creationId xmlns:a16="http://schemas.microsoft.com/office/drawing/2014/main" id="{8F74504D-A771-8161-A073-0DEDF83D329A}"/>
              </a:ext>
            </a:extLst>
          </p:cNvPr>
          <p:cNvPicPr>
            <a:picLocks noChangeAspect="1"/>
          </p:cNvPicPr>
          <p:nvPr/>
        </p:nvPicPr>
        <p:blipFill>
          <a:blip r:embed="rId2"/>
          <a:stretch>
            <a:fillRect/>
          </a:stretch>
        </p:blipFill>
        <p:spPr>
          <a:xfrm>
            <a:off x="0" y="2207273"/>
            <a:ext cx="3062013" cy="3175865"/>
          </a:xfrm>
          <a:prstGeom prst="rect">
            <a:avLst/>
          </a:prstGeom>
        </p:spPr>
      </p:pic>
      <p:pic>
        <p:nvPicPr>
          <p:cNvPr id="7" name="Picture 6">
            <a:extLst>
              <a:ext uri="{FF2B5EF4-FFF2-40B4-BE49-F238E27FC236}">
                <a16:creationId xmlns:a16="http://schemas.microsoft.com/office/drawing/2014/main" id="{7C5DA65D-6834-9C31-CAA1-62303C9B7177}"/>
              </a:ext>
            </a:extLst>
          </p:cNvPr>
          <p:cNvPicPr>
            <a:picLocks noChangeAspect="1"/>
          </p:cNvPicPr>
          <p:nvPr/>
        </p:nvPicPr>
        <p:blipFill>
          <a:blip r:embed="rId3"/>
          <a:stretch>
            <a:fillRect/>
          </a:stretch>
        </p:blipFill>
        <p:spPr>
          <a:xfrm>
            <a:off x="3062013" y="2207273"/>
            <a:ext cx="2957796" cy="3175865"/>
          </a:xfrm>
          <a:prstGeom prst="rect">
            <a:avLst/>
          </a:prstGeom>
        </p:spPr>
      </p:pic>
      <p:pic>
        <p:nvPicPr>
          <p:cNvPr id="9" name="Picture 8">
            <a:extLst>
              <a:ext uri="{FF2B5EF4-FFF2-40B4-BE49-F238E27FC236}">
                <a16:creationId xmlns:a16="http://schemas.microsoft.com/office/drawing/2014/main" id="{91993962-10AC-7D83-394E-59B97E5A0D14}"/>
              </a:ext>
            </a:extLst>
          </p:cNvPr>
          <p:cNvPicPr>
            <a:picLocks noChangeAspect="1"/>
          </p:cNvPicPr>
          <p:nvPr/>
        </p:nvPicPr>
        <p:blipFill>
          <a:blip r:embed="rId4"/>
          <a:stretch>
            <a:fillRect/>
          </a:stretch>
        </p:blipFill>
        <p:spPr>
          <a:xfrm>
            <a:off x="6019809" y="2207273"/>
            <a:ext cx="1904991" cy="3160553"/>
          </a:xfrm>
          <a:prstGeom prst="rect">
            <a:avLst/>
          </a:prstGeom>
        </p:spPr>
      </p:pic>
      <p:pic>
        <p:nvPicPr>
          <p:cNvPr id="11" name="Picture 10">
            <a:extLst>
              <a:ext uri="{FF2B5EF4-FFF2-40B4-BE49-F238E27FC236}">
                <a16:creationId xmlns:a16="http://schemas.microsoft.com/office/drawing/2014/main" id="{AAAD5449-E624-0DBB-DC92-EE0AFF1CEE5F}"/>
              </a:ext>
            </a:extLst>
          </p:cNvPr>
          <p:cNvPicPr>
            <a:picLocks noChangeAspect="1"/>
          </p:cNvPicPr>
          <p:nvPr/>
        </p:nvPicPr>
        <p:blipFill>
          <a:blip r:embed="rId5"/>
          <a:stretch>
            <a:fillRect/>
          </a:stretch>
        </p:blipFill>
        <p:spPr>
          <a:xfrm>
            <a:off x="7924800" y="2207273"/>
            <a:ext cx="1958725" cy="3149068"/>
          </a:xfrm>
          <a:prstGeom prst="rect">
            <a:avLst/>
          </a:prstGeom>
        </p:spPr>
      </p:pic>
      <p:pic>
        <p:nvPicPr>
          <p:cNvPr id="13" name="Picture 12">
            <a:extLst>
              <a:ext uri="{FF2B5EF4-FFF2-40B4-BE49-F238E27FC236}">
                <a16:creationId xmlns:a16="http://schemas.microsoft.com/office/drawing/2014/main" id="{75CBCE5A-1A20-0892-5BC3-C841D01187BB}"/>
              </a:ext>
            </a:extLst>
          </p:cNvPr>
          <p:cNvPicPr>
            <a:picLocks noChangeAspect="1"/>
          </p:cNvPicPr>
          <p:nvPr/>
        </p:nvPicPr>
        <p:blipFill>
          <a:blip r:embed="rId6"/>
          <a:stretch>
            <a:fillRect/>
          </a:stretch>
        </p:blipFill>
        <p:spPr>
          <a:xfrm>
            <a:off x="9883525" y="2207273"/>
            <a:ext cx="2308475" cy="3149068"/>
          </a:xfrm>
          <a:prstGeom prst="rect">
            <a:avLst/>
          </a:prstGeom>
        </p:spPr>
      </p:pic>
      <p:sp>
        <p:nvSpPr>
          <p:cNvPr id="14" name="TextBox 13">
            <a:extLst>
              <a:ext uri="{FF2B5EF4-FFF2-40B4-BE49-F238E27FC236}">
                <a16:creationId xmlns:a16="http://schemas.microsoft.com/office/drawing/2014/main" id="{75B1B955-C691-6CDA-D744-551C884D6508}"/>
              </a:ext>
            </a:extLst>
          </p:cNvPr>
          <p:cNvSpPr txBox="1"/>
          <p:nvPr/>
        </p:nvSpPr>
        <p:spPr>
          <a:xfrm>
            <a:off x="117987" y="5791200"/>
            <a:ext cx="2241755" cy="369332"/>
          </a:xfrm>
          <a:prstGeom prst="rect">
            <a:avLst/>
          </a:prstGeom>
          <a:noFill/>
        </p:spPr>
        <p:txBody>
          <a:bodyPr wrap="square" rtlCol="0">
            <a:spAutoFit/>
          </a:bodyPr>
          <a:lstStyle/>
          <a:p>
            <a:r>
              <a:rPr lang="en-US" dirty="0"/>
              <a:t>           Thrusters</a:t>
            </a:r>
          </a:p>
        </p:txBody>
      </p:sp>
      <p:sp>
        <p:nvSpPr>
          <p:cNvPr id="15" name="TextBox 14">
            <a:extLst>
              <a:ext uri="{FF2B5EF4-FFF2-40B4-BE49-F238E27FC236}">
                <a16:creationId xmlns:a16="http://schemas.microsoft.com/office/drawing/2014/main" id="{9FF4AADC-AA5A-D065-6372-44434900EA26}"/>
              </a:ext>
            </a:extLst>
          </p:cNvPr>
          <p:cNvSpPr txBox="1"/>
          <p:nvPr/>
        </p:nvSpPr>
        <p:spPr>
          <a:xfrm>
            <a:off x="3146323" y="5791200"/>
            <a:ext cx="2546554" cy="369332"/>
          </a:xfrm>
          <a:prstGeom prst="rect">
            <a:avLst/>
          </a:prstGeom>
          <a:noFill/>
        </p:spPr>
        <p:txBody>
          <a:bodyPr wrap="square" rtlCol="0">
            <a:spAutoFit/>
          </a:bodyPr>
          <a:lstStyle/>
          <a:p>
            <a:r>
              <a:rPr lang="en-US" dirty="0"/>
              <a:t>         Side frame</a:t>
            </a:r>
          </a:p>
        </p:txBody>
      </p:sp>
      <p:sp>
        <p:nvSpPr>
          <p:cNvPr id="16" name="TextBox 15">
            <a:extLst>
              <a:ext uri="{FF2B5EF4-FFF2-40B4-BE49-F238E27FC236}">
                <a16:creationId xmlns:a16="http://schemas.microsoft.com/office/drawing/2014/main" id="{9594F60D-6CB4-BE9A-C355-D880AE4A2C6B}"/>
              </a:ext>
            </a:extLst>
          </p:cNvPr>
          <p:cNvSpPr txBox="1"/>
          <p:nvPr/>
        </p:nvSpPr>
        <p:spPr>
          <a:xfrm>
            <a:off x="5830529" y="5791200"/>
            <a:ext cx="2241755" cy="369332"/>
          </a:xfrm>
          <a:prstGeom prst="rect">
            <a:avLst/>
          </a:prstGeom>
          <a:noFill/>
        </p:spPr>
        <p:txBody>
          <a:bodyPr wrap="square" rtlCol="0">
            <a:spAutoFit/>
          </a:bodyPr>
          <a:lstStyle/>
          <a:p>
            <a:r>
              <a:rPr lang="en-US" dirty="0"/>
              <a:t>       Base frame</a:t>
            </a:r>
          </a:p>
        </p:txBody>
      </p:sp>
      <p:sp>
        <p:nvSpPr>
          <p:cNvPr id="17" name="TextBox 16">
            <a:extLst>
              <a:ext uri="{FF2B5EF4-FFF2-40B4-BE49-F238E27FC236}">
                <a16:creationId xmlns:a16="http://schemas.microsoft.com/office/drawing/2014/main" id="{04B0E3E6-A697-1BDE-B5C3-C239AFCD65D7}"/>
              </a:ext>
            </a:extLst>
          </p:cNvPr>
          <p:cNvSpPr txBox="1"/>
          <p:nvPr/>
        </p:nvSpPr>
        <p:spPr>
          <a:xfrm>
            <a:off x="8072284" y="5791200"/>
            <a:ext cx="1986116" cy="923330"/>
          </a:xfrm>
          <a:prstGeom prst="rect">
            <a:avLst/>
          </a:prstGeom>
          <a:noFill/>
        </p:spPr>
        <p:txBody>
          <a:bodyPr wrap="square" rtlCol="0">
            <a:spAutoFit/>
          </a:bodyPr>
          <a:lstStyle/>
          <a:p>
            <a:r>
              <a:rPr lang="en-US" dirty="0"/>
              <a:t>Support for pipe</a:t>
            </a:r>
          </a:p>
          <a:p>
            <a:r>
              <a:rPr lang="en-US" dirty="0"/>
              <a:t>And buoyancy foam</a:t>
            </a:r>
          </a:p>
        </p:txBody>
      </p:sp>
      <p:sp>
        <p:nvSpPr>
          <p:cNvPr id="18" name="TextBox 17">
            <a:extLst>
              <a:ext uri="{FF2B5EF4-FFF2-40B4-BE49-F238E27FC236}">
                <a16:creationId xmlns:a16="http://schemas.microsoft.com/office/drawing/2014/main" id="{BAB2822B-3C48-D98E-8691-A83C7B3E73B4}"/>
              </a:ext>
            </a:extLst>
          </p:cNvPr>
          <p:cNvSpPr txBox="1"/>
          <p:nvPr/>
        </p:nvSpPr>
        <p:spPr>
          <a:xfrm>
            <a:off x="10392697" y="5791200"/>
            <a:ext cx="1799303" cy="646331"/>
          </a:xfrm>
          <a:prstGeom prst="rect">
            <a:avLst/>
          </a:prstGeom>
          <a:noFill/>
        </p:spPr>
        <p:txBody>
          <a:bodyPr wrap="square" rtlCol="0">
            <a:spAutoFit/>
          </a:bodyPr>
          <a:lstStyle/>
          <a:p>
            <a:r>
              <a:rPr lang="en-US" dirty="0"/>
              <a:t>Electronics pipe</a:t>
            </a:r>
          </a:p>
        </p:txBody>
      </p:sp>
    </p:spTree>
    <p:extLst>
      <p:ext uri="{BB962C8B-B14F-4D97-AF65-F5344CB8AC3E}">
        <p14:creationId xmlns:p14="http://schemas.microsoft.com/office/powerpoint/2010/main" val="10630844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B04F2-0D76-8FB7-E05A-3D94128F5505}"/>
              </a:ext>
            </a:extLst>
          </p:cNvPr>
          <p:cNvSpPr>
            <a:spLocks noGrp="1"/>
          </p:cNvSpPr>
          <p:nvPr>
            <p:ph type="ctrTitle"/>
          </p:nvPr>
        </p:nvSpPr>
        <p:spPr>
          <a:xfrm>
            <a:off x="1595269" y="78659"/>
            <a:ext cx="9001462" cy="1150374"/>
          </a:xfrm>
        </p:spPr>
        <p:txBody>
          <a:bodyPr/>
          <a:lstStyle/>
          <a:p>
            <a:r>
              <a:rPr lang="en-US" dirty="0"/>
              <a:t>Thank you </a:t>
            </a:r>
          </a:p>
        </p:txBody>
      </p:sp>
      <p:sp>
        <p:nvSpPr>
          <p:cNvPr id="3" name="Subtitle 2">
            <a:extLst>
              <a:ext uri="{FF2B5EF4-FFF2-40B4-BE49-F238E27FC236}">
                <a16:creationId xmlns:a16="http://schemas.microsoft.com/office/drawing/2014/main" id="{B70E99FA-2BCD-CFD7-CCD9-2E678AF5BBD0}"/>
              </a:ext>
            </a:extLst>
          </p:cNvPr>
          <p:cNvSpPr>
            <a:spLocks noGrp="1"/>
          </p:cNvSpPr>
          <p:nvPr>
            <p:ph type="subTitle" idx="1"/>
          </p:nvPr>
        </p:nvSpPr>
        <p:spPr>
          <a:xfrm>
            <a:off x="2047553" y="3110425"/>
            <a:ext cx="6811312" cy="1655762"/>
          </a:xfrm>
        </p:spPr>
        <p:txBody>
          <a:bodyPr/>
          <a:lstStyle/>
          <a:p>
            <a:r>
              <a:rPr lang="en-US" dirty="0"/>
              <a:t>ADITYA BANSAL</a:t>
            </a:r>
          </a:p>
          <a:p>
            <a:r>
              <a:rPr lang="en-US" dirty="0"/>
              <a:t>                  Contact : +91 – 8619759363</a:t>
            </a:r>
          </a:p>
          <a:p>
            <a:r>
              <a:rPr lang="en-US" dirty="0"/>
              <a:t>                         Email : 23ume506@lnmiit.ac.in</a:t>
            </a:r>
          </a:p>
        </p:txBody>
      </p:sp>
    </p:spTree>
    <p:extLst>
      <p:ext uri="{BB962C8B-B14F-4D97-AF65-F5344CB8AC3E}">
        <p14:creationId xmlns:p14="http://schemas.microsoft.com/office/powerpoint/2010/main" val="28252606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Damask">
  <a:themeElements>
    <a:clrScheme name="Damask">
      <a:dk1>
        <a:sysClr val="windowText" lastClr="000000"/>
      </a:dk1>
      <a:lt1>
        <a:sysClr val="window" lastClr="FFFFFF"/>
      </a:lt1>
      <a:dk2>
        <a:srgbClr val="2A5B7F"/>
      </a:dk2>
      <a:lt2>
        <a:srgbClr val="ABDAFC"/>
      </a:lt2>
      <a:accent1>
        <a:srgbClr val="9EC544"/>
      </a:accent1>
      <a:accent2>
        <a:srgbClr val="50BEA3"/>
      </a:accent2>
      <a:accent3>
        <a:srgbClr val="4A9CCC"/>
      </a:accent3>
      <a:accent4>
        <a:srgbClr val="9A66CA"/>
      </a:accent4>
      <a:accent5>
        <a:srgbClr val="C54F71"/>
      </a:accent5>
      <a:accent6>
        <a:srgbClr val="DE9C3C"/>
      </a:accent6>
      <a:hlink>
        <a:srgbClr val="6BA9DA"/>
      </a:hlink>
      <a:folHlink>
        <a:srgbClr val="A0BCD3"/>
      </a:folHlink>
    </a:clrScheme>
    <a:fontScheme name="Damask">
      <a:majorFont>
        <a:latin typeface="Bookman Old Style" panose="02050604050505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ockwell" panose="020606030202050204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amask">
      <a:fillStyleLst>
        <a:solidFill>
          <a:schemeClr val="phClr"/>
        </a:solidFill>
        <a:gradFill rotWithShape="1">
          <a:gsLst>
            <a:gs pos="0">
              <a:schemeClr val="phClr">
                <a:tint val="48000"/>
                <a:satMod val="105000"/>
                <a:lumMod val="110000"/>
              </a:schemeClr>
            </a:gs>
            <a:gs pos="100000">
              <a:schemeClr val="phClr">
                <a:tint val="78000"/>
                <a:satMod val="109000"/>
                <a:lumMod val="100000"/>
              </a:schemeClr>
            </a:gs>
          </a:gsLst>
          <a:lin ang="5400000" scaled="0"/>
        </a:gradFill>
        <a:gradFill rotWithShape="1">
          <a:gsLst>
            <a:gs pos="0">
              <a:schemeClr val="phClr">
                <a:tint val="94000"/>
                <a:satMod val="100000"/>
                <a:lumMod val="104000"/>
              </a:schemeClr>
            </a:gs>
            <a:gs pos="69000">
              <a:schemeClr val="phClr">
                <a:shade val="86000"/>
                <a:satMod val="130000"/>
                <a:lumMod val="102000"/>
              </a:schemeClr>
            </a:gs>
            <a:gs pos="100000">
              <a:schemeClr val="phClr">
                <a:shade val="72000"/>
                <a:satMod val="130000"/>
                <a:lumMod val="100000"/>
              </a:schemeClr>
            </a:gs>
          </a:gsLst>
          <a:lin ang="5400000" scaled="0"/>
        </a:gradFill>
      </a:fillStyleLst>
      <a:lnStyleLst>
        <a:ln w="12700"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50800" dist="38100" dir="5400000" sy="96000" rotWithShape="0">
              <a:srgbClr val="000000">
                <a:alpha val="54000"/>
              </a:srgbClr>
            </a:outerShdw>
          </a:effectLst>
        </a:effectStyle>
        <a:effectStyle>
          <a:effectLst>
            <a:outerShdw blurRad="76200" dist="38100" dir="5400000" algn="ctr" rotWithShape="0">
              <a:srgbClr val="000000">
                <a:alpha val="76000"/>
              </a:srgbClr>
            </a:outerShdw>
          </a:effectLst>
          <a:scene3d>
            <a:camera prst="orthographicFront">
              <a:rot lat="0" lon="0" rev="0"/>
            </a:camera>
            <a:lightRig rig="balanced" dir="t"/>
          </a:scene3d>
          <a:sp3d prstMaterial="matte">
            <a:bevelT w="25400" h="25400" prst="relaxedInset"/>
          </a:sp3d>
        </a:effectStyle>
      </a:effectStyleLst>
      <a:bgFillStyleLst>
        <a:solidFill>
          <a:schemeClr val="phClr"/>
        </a:solidFill>
        <a:solidFill>
          <a:schemeClr val="phClr">
            <a:tint val="95000"/>
            <a:satMod val="170000"/>
          </a:schemeClr>
        </a:solidFill>
        <a:blipFill rotWithShape="1">
          <a:blip xmlns:r="http://schemas.openxmlformats.org/officeDocument/2006/relationships" r:embed="rId1">
            <a:duotone>
              <a:schemeClr val="phClr">
                <a:shade val="18000"/>
                <a:satMod val="160000"/>
                <a:lumMod val="28000"/>
              </a:schemeClr>
              <a:schemeClr val="phClr">
                <a:tint val="95000"/>
                <a:satMod val="160000"/>
                <a:lumMod val="116000"/>
              </a:schemeClr>
            </a:duotone>
          </a:blip>
          <a:stretch/>
        </a:blipFill>
      </a:bgFillStyleLst>
    </a:fmtScheme>
  </a:themeElements>
  <a:objectDefaults/>
  <a:extraClrSchemeLst/>
  <a:extLst>
    <a:ext uri="{05A4C25C-085E-4340-85A3-A5531E510DB2}">
      <thm15:themeFamily xmlns:thm15="http://schemas.microsoft.com/office/thememl/2012/main" name="Damask" id="{F9A299A0-33D0-4E0F-9F3F-7163E3744208}" vid="{746EEEEA-FB6A-406B-B510-531588D54811}"/>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F84956D-B3A9-4D67-A777-C382A9E5A5E5}">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TM04033921[[fn=Damask]]</Template>
  <TotalTime>64</TotalTime>
  <Words>625</Words>
  <Application>Microsoft Office PowerPoint</Application>
  <PresentationFormat>Widescreen</PresentationFormat>
  <Paragraphs>31</Paragraphs>
  <Slides>10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Bookman Old Style</vt:lpstr>
      <vt:lpstr>Rockwell</vt:lpstr>
      <vt:lpstr>Damask</vt:lpstr>
      <vt:lpstr> CAD DESIGNS     Using Autodesk fusion 360</vt:lpstr>
      <vt:lpstr>Belt and pulley</vt:lpstr>
      <vt:lpstr>Double helical gear</vt:lpstr>
      <vt:lpstr>Slider Crank Mechanism</vt:lpstr>
      <vt:lpstr>2 stroke engine</vt:lpstr>
      <vt:lpstr>Individual components for 2 stroke engine</vt:lpstr>
      <vt:lpstr>Servo motor</vt:lpstr>
      <vt:lpstr>Autonomous UNDERWATER VEHICLE</vt:lpstr>
      <vt:lpstr>Individual components of auv</vt:lpstr>
      <vt:lpstr>Thank you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Aditya bansal</dc:creator>
  <cp:lastModifiedBy>Aditya bansal</cp:lastModifiedBy>
  <cp:revision>1</cp:revision>
  <dcterms:created xsi:type="dcterms:W3CDTF">2025-09-02T10:56:25Z</dcterms:created>
  <dcterms:modified xsi:type="dcterms:W3CDTF">2025-09-02T12:00:56Z</dcterms:modified>
</cp:coreProperties>
</file>