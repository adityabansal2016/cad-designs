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59" r:id="rId5"/>
    <p:sldId id="260" r:id="rId6"/>
    <p:sldId id="261" r:id="rId7"/>
    <p:sldId id="262" r:id="rId8"/>
    <p:sldId id="267" r:id="rId9"/>
    <p:sldId id="263" r:id="rId10"/>
    <p:sldId id="264" r:id="rId11"/>
    <p:sldId id="266" r:id="rId12"/>
    <p:sldId id="268" r:id="rId13"/>
    <p:sldId id="269"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46F4B-BE40-48C3-9610-C56B7C5DD22C}" v="12" dt="2026-02-18T05:46:56.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bansal" userId="19cc838a8df96920" providerId="LiveId" clId="{D55A446F-890C-45B5-B4E0-EC8A9F86BD5D}"/>
    <pc:docChg chg="custSel addSld modSld sldOrd">
      <pc:chgData name="Aditya bansal" userId="19cc838a8df96920" providerId="LiveId" clId="{D55A446F-890C-45B5-B4E0-EC8A9F86BD5D}" dt="2026-02-18T05:46:56.437" v="161" actId="27636"/>
      <pc:docMkLst>
        <pc:docMk/>
      </pc:docMkLst>
      <pc:sldChg chg="modSp mod">
        <pc:chgData name="Aditya bansal" userId="19cc838a8df96920" providerId="LiveId" clId="{D55A446F-890C-45B5-B4E0-EC8A9F86BD5D}" dt="2026-02-18T05:45:44.293" v="156" actId="1076"/>
        <pc:sldMkLst>
          <pc:docMk/>
          <pc:sldMk cId="2221648329" sldId="257"/>
        </pc:sldMkLst>
        <pc:spChg chg="mod">
          <ac:chgData name="Aditya bansal" userId="19cc838a8df96920" providerId="LiveId" clId="{D55A446F-890C-45B5-B4E0-EC8A9F86BD5D}" dt="2026-02-18T05:45:44.293" v="156" actId="1076"/>
          <ac:spMkLst>
            <pc:docMk/>
            <pc:sldMk cId="2221648329" sldId="257"/>
            <ac:spMk id="15" creationId="{88260EFA-1141-18EB-5AE6-916A12C96484}"/>
          </ac:spMkLst>
        </pc:spChg>
      </pc:sldChg>
      <pc:sldChg chg="modSp mod">
        <pc:chgData name="Aditya bansal" userId="19cc838a8df96920" providerId="LiveId" clId="{D55A446F-890C-45B5-B4E0-EC8A9F86BD5D}" dt="2026-02-18T05:46:20.621" v="159" actId="1076"/>
        <pc:sldMkLst>
          <pc:docMk/>
          <pc:sldMk cId="1090935782" sldId="258"/>
        </pc:sldMkLst>
        <pc:spChg chg="mod">
          <ac:chgData name="Aditya bansal" userId="19cc838a8df96920" providerId="LiveId" clId="{D55A446F-890C-45B5-B4E0-EC8A9F86BD5D}" dt="2026-02-18T05:45:07.310" v="153" actId="1076"/>
          <ac:spMkLst>
            <pc:docMk/>
            <pc:sldMk cId="1090935782" sldId="258"/>
            <ac:spMk id="2" creationId="{69ABADED-6ACB-1C96-2030-7A955D8BFF2B}"/>
          </ac:spMkLst>
        </pc:spChg>
        <pc:spChg chg="mod">
          <ac:chgData name="Aditya bansal" userId="19cc838a8df96920" providerId="LiveId" clId="{D55A446F-890C-45B5-B4E0-EC8A9F86BD5D}" dt="2026-02-18T05:46:20.621" v="159" actId="1076"/>
          <ac:spMkLst>
            <pc:docMk/>
            <pc:sldMk cId="1090935782" sldId="258"/>
            <ac:spMk id="10" creationId="{2E792FAE-0841-711E-0DA3-EE6B73AC169F}"/>
          </ac:spMkLst>
        </pc:spChg>
      </pc:sldChg>
      <pc:sldChg chg="modSp mod">
        <pc:chgData name="Aditya bansal" userId="19cc838a8df96920" providerId="LiveId" clId="{D55A446F-890C-45B5-B4E0-EC8A9F86BD5D}" dt="2026-02-18T05:46:56.437" v="161" actId="27636"/>
        <pc:sldMkLst>
          <pc:docMk/>
          <pc:sldMk cId="359911811" sldId="259"/>
        </pc:sldMkLst>
        <pc:spChg chg="mod">
          <ac:chgData name="Aditya bansal" userId="19cc838a8df96920" providerId="LiveId" clId="{D55A446F-890C-45B5-B4E0-EC8A9F86BD5D}" dt="2026-02-18T05:46:56.437" v="161" actId="27636"/>
          <ac:spMkLst>
            <pc:docMk/>
            <pc:sldMk cId="359911811" sldId="259"/>
            <ac:spMk id="3" creationId="{77FB6627-1CDE-48A5-3DCF-73C67FC9AA37}"/>
          </ac:spMkLst>
        </pc:spChg>
      </pc:sldChg>
      <pc:sldChg chg="modSp mod">
        <pc:chgData name="Aditya bansal" userId="19cc838a8df96920" providerId="LiveId" clId="{D55A446F-890C-45B5-B4E0-EC8A9F86BD5D}" dt="2026-02-18T05:44:26.120" v="144" actId="1076"/>
        <pc:sldMkLst>
          <pc:docMk/>
          <pc:sldMk cId="118080974" sldId="262"/>
        </pc:sldMkLst>
        <pc:spChg chg="mod">
          <ac:chgData name="Aditya bansal" userId="19cc838a8df96920" providerId="LiveId" clId="{D55A446F-890C-45B5-B4E0-EC8A9F86BD5D}" dt="2026-02-18T05:44:26.120" v="144" actId="1076"/>
          <ac:spMkLst>
            <pc:docMk/>
            <pc:sldMk cId="118080974" sldId="262"/>
            <ac:spMk id="6" creationId="{FEADD7B4-37A6-726D-2C94-D4A2855F8FE7}"/>
          </ac:spMkLst>
        </pc:spChg>
      </pc:sldChg>
      <pc:sldChg chg="modSp mod">
        <pc:chgData name="Aditya bansal" userId="19cc838a8df96920" providerId="LiveId" clId="{D55A446F-890C-45B5-B4E0-EC8A9F86BD5D}" dt="2026-02-18T05:36:48.455" v="64" actId="20577"/>
        <pc:sldMkLst>
          <pc:docMk/>
          <pc:sldMk cId="3547279802" sldId="263"/>
        </pc:sldMkLst>
        <pc:spChg chg="mod">
          <ac:chgData name="Aditya bansal" userId="19cc838a8df96920" providerId="LiveId" clId="{D55A446F-890C-45B5-B4E0-EC8A9F86BD5D}" dt="2026-02-18T05:36:48.455" v="64" actId="20577"/>
          <ac:spMkLst>
            <pc:docMk/>
            <pc:sldMk cId="3547279802" sldId="263"/>
            <ac:spMk id="9" creationId="{88130813-9B58-3BB3-28D8-EAD70BAF4AC5}"/>
          </ac:spMkLst>
        </pc:spChg>
      </pc:sldChg>
      <pc:sldChg chg="addSp modSp new mod">
        <pc:chgData name="Aditya bansal" userId="19cc838a8df96920" providerId="LiveId" clId="{D55A446F-890C-45B5-B4E0-EC8A9F86BD5D}" dt="2026-02-18T05:43:35.710" v="134" actId="1076"/>
        <pc:sldMkLst>
          <pc:docMk/>
          <pc:sldMk cId="2410999096" sldId="266"/>
        </pc:sldMkLst>
        <pc:spChg chg="mod">
          <ac:chgData name="Aditya bansal" userId="19cc838a8df96920" providerId="LiveId" clId="{D55A446F-890C-45B5-B4E0-EC8A9F86BD5D}" dt="2026-02-18T05:34:41.017" v="27" actId="1076"/>
          <ac:spMkLst>
            <pc:docMk/>
            <pc:sldMk cId="2410999096" sldId="266"/>
            <ac:spMk id="2" creationId="{F10D9867-8A5F-3ED6-AC1C-316475E829F0}"/>
          </ac:spMkLst>
        </pc:spChg>
        <pc:spChg chg="add mod">
          <ac:chgData name="Aditya bansal" userId="19cc838a8df96920" providerId="LiveId" clId="{D55A446F-890C-45B5-B4E0-EC8A9F86BD5D}" dt="2026-02-18T05:43:35.710" v="134" actId="1076"/>
          <ac:spMkLst>
            <pc:docMk/>
            <pc:sldMk cId="2410999096" sldId="266"/>
            <ac:spMk id="5" creationId="{8ABC8774-2650-C510-FB90-A7F66AB19FCE}"/>
          </ac:spMkLst>
        </pc:spChg>
        <pc:picChg chg="add mod">
          <ac:chgData name="Aditya bansal" userId="19cc838a8df96920" providerId="LiveId" clId="{D55A446F-890C-45B5-B4E0-EC8A9F86BD5D}" dt="2026-02-18T05:34:31.628" v="26" actId="14100"/>
          <ac:picMkLst>
            <pc:docMk/>
            <pc:sldMk cId="2410999096" sldId="266"/>
            <ac:picMk id="4" creationId="{45C1E16E-ED83-04A1-639D-6E94699B34B3}"/>
          </ac:picMkLst>
        </pc:picChg>
      </pc:sldChg>
      <pc:sldChg chg="addSp modSp new mod ord">
        <pc:chgData name="Aditya bansal" userId="19cc838a8df96920" providerId="LiveId" clId="{D55A446F-890C-45B5-B4E0-EC8A9F86BD5D}" dt="2026-02-18T05:43:24.189" v="132" actId="1076"/>
        <pc:sldMkLst>
          <pc:docMk/>
          <pc:sldMk cId="3937273088" sldId="267"/>
        </pc:sldMkLst>
        <pc:spChg chg="mod">
          <ac:chgData name="Aditya bansal" userId="19cc838a8df96920" providerId="LiveId" clId="{D55A446F-890C-45B5-B4E0-EC8A9F86BD5D}" dt="2026-02-18T05:38:31.894" v="83" actId="1076"/>
          <ac:spMkLst>
            <pc:docMk/>
            <pc:sldMk cId="3937273088" sldId="267"/>
            <ac:spMk id="2" creationId="{71BE1993-BF35-AC83-DB60-BB65BEA0471C}"/>
          </ac:spMkLst>
        </pc:spChg>
        <pc:spChg chg="add mod">
          <ac:chgData name="Aditya bansal" userId="19cc838a8df96920" providerId="LiveId" clId="{D55A446F-890C-45B5-B4E0-EC8A9F86BD5D}" dt="2026-02-18T05:43:24.189" v="132" actId="1076"/>
          <ac:spMkLst>
            <pc:docMk/>
            <pc:sldMk cId="3937273088" sldId="267"/>
            <ac:spMk id="5" creationId="{9CB3C95A-762F-0B7B-6B34-512DAD50EB77}"/>
          </ac:spMkLst>
        </pc:spChg>
        <pc:picChg chg="add mod">
          <ac:chgData name="Aditya bansal" userId="19cc838a8df96920" providerId="LiveId" clId="{D55A446F-890C-45B5-B4E0-EC8A9F86BD5D}" dt="2026-02-18T05:38:28.262" v="82" actId="1076"/>
          <ac:picMkLst>
            <pc:docMk/>
            <pc:sldMk cId="3937273088" sldId="267"/>
            <ac:picMk id="4" creationId="{60E09C51-3FD8-542C-C5E4-6C207DA328C2}"/>
          </ac:picMkLst>
        </pc:picChg>
      </pc:sldChg>
      <pc:sldChg chg="addSp modSp new mod">
        <pc:chgData name="Aditya bansal" userId="19cc838a8df96920" providerId="LiveId" clId="{D55A446F-890C-45B5-B4E0-EC8A9F86BD5D}" dt="2026-02-18T05:43:46.318" v="137" actId="1076"/>
        <pc:sldMkLst>
          <pc:docMk/>
          <pc:sldMk cId="837143885" sldId="268"/>
        </pc:sldMkLst>
        <pc:spChg chg="mod">
          <ac:chgData name="Aditya bansal" userId="19cc838a8df96920" providerId="LiveId" clId="{D55A446F-890C-45B5-B4E0-EC8A9F86BD5D}" dt="2026-02-18T05:40:53.788" v="108" actId="1076"/>
          <ac:spMkLst>
            <pc:docMk/>
            <pc:sldMk cId="837143885" sldId="268"/>
            <ac:spMk id="2" creationId="{53EA362B-9391-545A-5AFA-20EA36FAE0E2}"/>
          </ac:spMkLst>
        </pc:spChg>
        <pc:spChg chg="add mod">
          <ac:chgData name="Aditya bansal" userId="19cc838a8df96920" providerId="LiveId" clId="{D55A446F-890C-45B5-B4E0-EC8A9F86BD5D}" dt="2026-02-18T05:43:46.318" v="137" actId="1076"/>
          <ac:spMkLst>
            <pc:docMk/>
            <pc:sldMk cId="837143885" sldId="268"/>
            <ac:spMk id="5" creationId="{6E6C5B84-141E-DEEF-AC5F-1CD0BAA54B13}"/>
          </ac:spMkLst>
        </pc:spChg>
        <pc:picChg chg="add mod">
          <ac:chgData name="Aditya bansal" userId="19cc838a8df96920" providerId="LiveId" clId="{D55A446F-890C-45B5-B4E0-EC8A9F86BD5D}" dt="2026-02-18T05:39:56.639" v="101" actId="1076"/>
          <ac:picMkLst>
            <pc:docMk/>
            <pc:sldMk cId="837143885" sldId="268"/>
            <ac:picMk id="4" creationId="{743867DD-2854-CE46-F080-178611A44007}"/>
          </ac:picMkLst>
        </pc:picChg>
      </pc:sldChg>
      <pc:sldChg chg="addSp modSp new mod">
        <pc:chgData name="Aditya bansal" userId="19cc838a8df96920" providerId="LiveId" clId="{D55A446F-890C-45B5-B4E0-EC8A9F86BD5D}" dt="2026-02-18T05:44:07.995" v="142" actId="1076"/>
        <pc:sldMkLst>
          <pc:docMk/>
          <pc:sldMk cId="861279209" sldId="269"/>
        </pc:sldMkLst>
        <pc:spChg chg="mod">
          <ac:chgData name="Aditya bansal" userId="19cc838a8df96920" providerId="LiveId" clId="{D55A446F-890C-45B5-B4E0-EC8A9F86BD5D}" dt="2026-02-18T05:42:14.032" v="122" actId="1076"/>
          <ac:spMkLst>
            <pc:docMk/>
            <pc:sldMk cId="861279209" sldId="269"/>
            <ac:spMk id="2" creationId="{2F86919F-45E1-B31C-8BFF-CB1E9AAF8AEF}"/>
          </ac:spMkLst>
        </pc:spChg>
        <pc:spChg chg="add mod">
          <ac:chgData name="Aditya bansal" userId="19cc838a8df96920" providerId="LiveId" clId="{D55A446F-890C-45B5-B4E0-EC8A9F86BD5D}" dt="2026-02-18T05:44:07.995" v="142" actId="1076"/>
          <ac:spMkLst>
            <pc:docMk/>
            <pc:sldMk cId="861279209" sldId="269"/>
            <ac:spMk id="5" creationId="{BDC6811D-8E5E-2357-4222-799C03415DED}"/>
          </ac:spMkLst>
        </pc:spChg>
        <pc:picChg chg="add mod">
          <ac:chgData name="Aditya bansal" userId="19cc838a8df96920" providerId="LiveId" clId="{D55A446F-890C-45B5-B4E0-EC8A9F86BD5D}" dt="2026-02-18T05:44:00.733" v="140" actId="14100"/>
          <ac:picMkLst>
            <pc:docMk/>
            <pc:sldMk cId="861279209" sldId="269"/>
            <ac:picMk id="4" creationId="{3181AAAF-CFBD-2C11-0D98-3CC5569ACCA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F3DAAF-9E62-4157-8079-49E7FBCF8D56}"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2983878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1912645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1861198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4078427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2344626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2461001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2338889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1687534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325791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3201653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3808103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05723D-9477-408D-B1DA-D003E2AD4DDD}"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09403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3946047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3899047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4116893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34369467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05723D-9477-408D-B1DA-D003E2AD4DDD}" type="slidenum">
              <a:rPr lang="en-US" smtClean="0"/>
              <a:t>‹#›</a:t>
            </a:fld>
            <a:endParaRPr lang="en-US"/>
          </a:p>
        </p:txBody>
      </p:sp>
    </p:spTree>
    <p:extLst>
      <p:ext uri="{BB962C8B-B14F-4D97-AF65-F5344CB8AC3E}">
        <p14:creationId xmlns:p14="http://schemas.microsoft.com/office/powerpoint/2010/main" val="232715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1BEF0D-F0BB-DE4B-95CE-6DB70DBA9567}" type="datetimeFigureOut">
              <a:rPr lang="en-US" smtClean="0"/>
              <a:pPr/>
              <a:t>2/18/2026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805723D-9477-408D-B1DA-D003E2AD4DDD}" type="slidenum">
              <a:rPr lang="en-US" smtClean="0"/>
              <a:t>‹#›</a:t>
            </a:fld>
            <a:endParaRPr lang="en-US"/>
          </a:p>
        </p:txBody>
      </p:sp>
    </p:spTree>
    <p:extLst>
      <p:ext uri="{BB962C8B-B14F-4D97-AF65-F5344CB8AC3E}">
        <p14:creationId xmlns:p14="http://schemas.microsoft.com/office/powerpoint/2010/main" val="2635175659"/>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F67D6-52E7-3C27-1E0C-B9F29D54EB23}"/>
              </a:ext>
            </a:extLst>
          </p:cNvPr>
          <p:cNvSpPr>
            <a:spLocks noGrp="1"/>
          </p:cNvSpPr>
          <p:nvPr>
            <p:ph type="ctrTitle"/>
          </p:nvPr>
        </p:nvSpPr>
        <p:spPr>
          <a:xfrm>
            <a:off x="1595269" y="1122363"/>
            <a:ext cx="9001462" cy="2859702"/>
          </a:xfrm>
        </p:spPr>
        <p:txBody>
          <a:bodyPr/>
          <a:lstStyle/>
          <a:p>
            <a:r>
              <a:rPr lang="en-US" dirty="0"/>
              <a:t>	CAD DESIGNS</a:t>
            </a:r>
            <a:br>
              <a:rPr lang="en-US" dirty="0"/>
            </a:br>
            <a:br>
              <a:rPr lang="en-US" dirty="0"/>
            </a:br>
            <a:r>
              <a:rPr lang="en-US" dirty="0"/>
              <a:t>   </a:t>
            </a:r>
            <a:r>
              <a:rPr lang="en-US" sz="2000" dirty="0"/>
              <a:t>Using Autodesk fusion 360</a:t>
            </a:r>
          </a:p>
        </p:txBody>
      </p:sp>
      <p:sp>
        <p:nvSpPr>
          <p:cNvPr id="4" name="TextBox 3">
            <a:extLst>
              <a:ext uri="{FF2B5EF4-FFF2-40B4-BE49-F238E27FC236}">
                <a16:creationId xmlns:a16="http://schemas.microsoft.com/office/drawing/2014/main" id="{7ACC4E92-D683-CCAC-93C1-8AF8A6A42232}"/>
              </a:ext>
            </a:extLst>
          </p:cNvPr>
          <p:cNvSpPr txBox="1"/>
          <p:nvPr/>
        </p:nvSpPr>
        <p:spPr>
          <a:xfrm>
            <a:off x="8760543" y="5735637"/>
            <a:ext cx="3195484" cy="523220"/>
          </a:xfrm>
          <a:prstGeom prst="rect">
            <a:avLst/>
          </a:prstGeom>
          <a:noFill/>
        </p:spPr>
        <p:txBody>
          <a:bodyPr wrap="square" rtlCol="0">
            <a:spAutoFit/>
          </a:bodyPr>
          <a:lstStyle/>
          <a:p>
            <a:r>
              <a:rPr lang="en-US" sz="2800" dirty="0"/>
              <a:t>Aditya bansal</a:t>
            </a:r>
          </a:p>
        </p:txBody>
      </p:sp>
    </p:spTree>
    <p:extLst>
      <p:ext uri="{BB962C8B-B14F-4D97-AF65-F5344CB8AC3E}">
        <p14:creationId xmlns:p14="http://schemas.microsoft.com/office/powerpoint/2010/main" val="3226255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A2EC2-077F-8025-DD4A-C7A5A054D6D3}"/>
              </a:ext>
            </a:extLst>
          </p:cNvPr>
          <p:cNvSpPr>
            <a:spLocks noGrp="1"/>
          </p:cNvSpPr>
          <p:nvPr>
            <p:ph type="ctrTitle"/>
          </p:nvPr>
        </p:nvSpPr>
        <p:spPr>
          <a:xfrm>
            <a:off x="1396181" y="147485"/>
            <a:ext cx="9200550" cy="1081548"/>
          </a:xfrm>
        </p:spPr>
        <p:txBody>
          <a:bodyPr/>
          <a:lstStyle/>
          <a:p>
            <a:r>
              <a:rPr lang="en-US" dirty="0"/>
              <a:t>Belt and pulley</a:t>
            </a:r>
          </a:p>
        </p:txBody>
      </p:sp>
      <p:pic>
        <p:nvPicPr>
          <p:cNvPr id="7" name="Picture 6">
            <a:extLst>
              <a:ext uri="{FF2B5EF4-FFF2-40B4-BE49-F238E27FC236}">
                <a16:creationId xmlns:a16="http://schemas.microsoft.com/office/drawing/2014/main" id="{5417618F-CA5E-0B0C-0F56-41E0ECF8E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9318" y="1150373"/>
            <a:ext cx="4053890" cy="2871505"/>
          </a:xfrm>
          <a:prstGeom prst="rect">
            <a:avLst/>
          </a:prstGeom>
        </p:spPr>
      </p:pic>
      <p:pic>
        <p:nvPicPr>
          <p:cNvPr id="9" name="Picture 8">
            <a:extLst>
              <a:ext uri="{FF2B5EF4-FFF2-40B4-BE49-F238E27FC236}">
                <a16:creationId xmlns:a16="http://schemas.microsoft.com/office/drawing/2014/main" id="{5D79B8C0-A7B0-0155-5BF2-AB1CC7078D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3208" y="1150374"/>
            <a:ext cx="3398792" cy="2871505"/>
          </a:xfrm>
          <a:prstGeom prst="rect">
            <a:avLst/>
          </a:prstGeom>
        </p:spPr>
      </p:pic>
      <p:pic>
        <p:nvPicPr>
          <p:cNvPr id="11" name="Picture 10">
            <a:extLst>
              <a:ext uri="{FF2B5EF4-FFF2-40B4-BE49-F238E27FC236}">
                <a16:creationId xmlns:a16="http://schemas.microsoft.com/office/drawing/2014/main" id="{4BF08FC9-2305-978C-54FD-8A505DD677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0360" y="4021877"/>
            <a:ext cx="4111806" cy="2871505"/>
          </a:xfrm>
          <a:prstGeom prst="rect">
            <a:avLst/>
          </a:prstGeom>
        </p:spPr>
      </p:pic>
      <p:pic>
        <p:nvPicPr>
          <p:cNvPr id="13" name="Picture 12">
            <a:extLst>
              <a:ext uri="{FF2B5EF4-FFF2-40B4-BE49-F238E27FC236}">
                <a16:creationId xmlns:a16="http://schemas.microsoft.com/office/drawing/2014/main" id="{25C9CE1C-F09F-FEB3-A368-3FD548CC0E26}"/>
              </a:ext>
            </a:extLst>
          </p:cNvPr>
          <p:cNvPicPr>
            <a:picLocks noChangeAspect="1"/>
          </p:cNvPicPr>
          <p:nvPr/>
        </p:nvPicPr>
        <p:blipFill>
          <a:blip r:embed="rId5"/>
          <a:stretch>
            <a:fillRect/>
          </a:stretch>
        </p:blipFill>
        <p:spPr>
          <a:xfrm>
            <a:off x="8822167" y="3742890"/>
            <a:ext cx="3369834" cy="3115110"/>
          </a:xfrm>
          <a:prstGeom prst="rect">
            <a:avLst/>
          </a:prstGeom>
        </p:spPr>
      </p:pic>
      <p:sp>
        <p:nvSpPr>
          <p:cNvPr id="15" name="TextBox 14">
            <a:extLst>
              <a:ext uri="{FF2B5EF4-FFF2-40B4-BE49-F238E27FC236}">
                <a16:creationId xmlns:a16="http://schemas.microsoft.com/office/drawing/2014/main" id="{88260EFA-1141-18EB-5AE6-916A12C96484}"/>
              </a:ext>
            </a:extLst>
          </p:cNvPr>
          <p:cNvSpPr txBox="1"/>
          <p:nvPr/>
        </p:nvSpPr>
        <p:spPr>
          <a:xfrm>
            <a:off x="240891" y="1858297"/>
            <a:ext cx="4053890" cy="4524315"/>
          </a:xfrm>
          <a:prstGeom prst="rect">
            <a:avLst/>
          </a:prstGeom>
          <a:noFill/>
        </p:spPr>
        <p:txBody>
          <a:bodyPr wrap="square" rtlCol="0">
            <a:spAutoFit/>
          </a:bodyPr>
          <a:lstStyle/>
          <a:p>
            <a:r>
              <a:rPr lang="en-US" sz="2400" dirty="0"/>
              <a:t>Designed a belt and pulley system in Autodesk Fusion 360 by modeling pulleys, defining the belt path, and assembling the components to simulate rotational power transmission. The project improved my understanding of assembly constraints and mechanical motion in CAD.</a:t>
            </a:r>
          </a:p>
        </p:txBody>
      </p:sp>
    </p:spTree>
    <p:extLst>
      <p:ext uri="{BB962C8B-B14F-4D97-AF65-F5344CB8AC3E}">
        <p14:creationId xmlns:p14="http://schemas.microsoft.com/office/powerpoint/2010/main" val="2221648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BADED-6ACB-1C96-2030-7A955D8BFF2B}"/>
              </a:ext>
            </a:extLst>
          </p:cNvPr>
          <p:cNvSpPr>
            <a:spLocks noGrp="1"/>
          </p:cNvSpPr>
          <p:nvPr>
            <p:ph type="ctrTitle"/>
          </p:nvPr>
        </p:nvSpPr>
        <p:spPr>
          <a:xfrm>
            <a:off x="1595269" y="-39792"/>
            <a:ext cx="9001462" cy="1002891"/>
          </a:xfrm>
        </p:spPr>
        <p:txBody>
          <a:bodyPr/>
          <a:lstStyle/>
          <a:p>
            <a:r>
              <a:rPr lang="en-US" dirty="0"/>
              <a:t>Double helical gear</a:t>
            </a:r>
          </a:p>
        </p:txBody>
      </p:sp>
      <p:pic>
        <p:nvPicPr>
          <p:cNvPr id="5" name="Picture 4">
            <a:extLst>
              <a:ext uri="{FF2B5EF4-FFF2-40B4-BE49-F238E27FC236}">
                <a16:creationId xmlns:a16="http://schemas.microsoft.com/office/drawing/2014/main" id="{1DC3A5C9-3C0B-B0DB-7629-126B53C360A0}"/>
              </a:ext>
            </a:extLst>
          </p:cNvPr>
          <p:cNvPicPr>
            <a:picLocks noChangeAspect="1"/>
          </p:cNvPicPr>
          <p:nvPr/>
        </p:nvPicPr>
        <p:blipFill>
          <a:blip r:embed="rId2"/>
          <a:stretch>
            <a:fillRect/>
          </a:stretch>
        </p:blipFill>
        <p:spPr>
          <a:xfrm>
            <a:off x="6096000" y="963099"/>
            <a:ext cx="6126054" cy="6004946"/>
          </a:xfrm>
          <a:prstGeom prst="rect">
            <a:avLst/>
          </a:prstGeom>
        </p:spPr>
      </p:pic>
      <p:sp>
        <p:nvSpPr>
          <p:cNvPr id="10" name="TextBox 9">
            <a:extLst>
              <a:ext uri="{FF2B5EF4-FFF2-40B4-BE49-F238E27FC236}">
                <a16:creationId xmlns:a16="http://schemas.microsoft.com/office/drawing/2014/main" id="{2E792FAE-0841-711E-0DA3-EE6B73AC169F}"/>
              </a:ext>
            </a:extLst>
          </p:cNvPr>
          <p:cNvSpPr txBox="1"/>
          <p:nvPr/>
        </p:nvSpPr>
        <p:spPr>
          <a:xfrm>
            <a:off x="462115" y="2118912"/>
            <a:ext cx="5407742" cy="3693319"/>
          </a:xfrm>
          <a:prstGeom prst="rect">
            <a:avLst/>
          </a:prstGeom>
          <a:noFill/>
        </p:spPr>
        <p:txBody>
          <a:bodyPr wrap="square" rtlCol="0">
            <a:spAutoFit/>
          </a:bodyPr>
          <a:lstStyle/>
          <a:p>
            <a:r>
              <a:rPr lang="en-US" sz="2400" dirty="0"/>
              <a:t>Designed a double helical gear in Autodesk Fusion 360 with opposing helix angles to balance axial thrust and ensure smooth power transmission. Modeled accurate tooth profiles, applied helical constraints, and assembled the 3D geometry, strengthening my understanding of gear design and load distribution.</a:t>
            </a:r>
          </a:p>
          <a:p>
            <a:endParaRPr lang="en-US" dirty="0"/>
          </a:p>
        </p:txBody>
      </p:sp>
    </p:spTree>
    <p:extLst>
      <p:ext uri="{BB962C8B-B14F-4D97-AF65-F5344CB8AC3E}">
        <p14:creationId xmlns:p14="http://schemas.microsoft.com/office/powerpoint/2010/main" val="1090935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0F040-95B4-1C12-9656-9C184F074B75}"/>
              </a:ext>
            </a:extLst>
          </p:cNvPr>
          <p:cNvSpPr>
            <a:spLocks noGrp="1"/>
          </p:cNvSpPr>
          <p:nvPr>
            <p:ph type="ctrTitle"/>
          </p:nvPr>
        </p:nvSpPr>
        <p:spPr>
          <a:xfrm>
            <a:off x="1595269" y="0"/>
            <a:ext cx="9001462" cy="1415845"/>
          </a:xfrm>
        </p:spPr>
        <p:txBody>
          <a:bodyPr/>
          <a:lstStyle/>
          <a:p>
            <a:r>
              <a:rPr lang="en-US" dirty="0"/>
              <a:t>Slider Crank Mechanism</a:t>
            </a:r>
          </a:p>
        </p:txBody>
      </p:sp>
      <p:sp>
        <p:nvSpPr>
          <p:cNvPr id="3" name="Subtitle 2">
            <a:extLst>
              <a:ext uri="{FF2B5EF4-FFF2-40B4-BE49-F238E27FC236}">
                <a16:creationId xmlns:a16="http://schemas.microsoft.com/office/drawing/2014/main" id="{77FB6627-1CDE-48A5-3DCF-73C67FC9AA37}"/>
              </a:ext>
            </a:extLst>
          </p:cNvPr>
          <p:cNvSpPr>
            <a:spLocks noGrp="1"/>
          </p:cNvSpPr>
          <p:nvPr>
            <p:ph type="subTitle" idx="1"/>
          </p:nvPr>
        </p:nvSpPr>
        <p:spPr>
          <a:xfrm>
            <a:off x="963561" y="1710813"/>
            <a:ext cx="5860026" cy="4395019"/>
          </a:xfrm>
        </p:spPr>
        <p:txBody>
          <a:bodyPr>
            <a:normAutofit fontScale="62500" lnSpcReduction="20000"/>
          </a:bodyPr>
          <a:lstStyle/>
          <a:p>
            <a:r>
              <a:rPr lang="en-US" sz="4000" dirty="0"/>
              <a:t>Designed a slider-crank mechanism in Autodesk Fusion 360, modeling the crank, connecting rod, and slider to convert rotary motion into reciprocating motion. Assembled the components with proper motion constraints to simulate kinematic behavior and improve understanding of linkage mechanisms and CAD assembly.</a:t>
            </a:r>
            <a:endParaRPr lang="en-US" dirty="0"/>
          </a:p>
        </p:txBody>
      </p:sp>
      <p:pic>
        <p:nvPicPr>
          <p:cNvPr id="5" name="Picture 4">
            <a:extLst>
              <a:ext uri="{FF2B5EF4-FFF2-40B4-BE49-F238E27FC236}">
                <a16:creationId xmlns:a16="http://schemas.microsoft.com/office/drawing/2014/main" id="{46BB1B14-69E7-0C7E-264A-8674FD70F7C2}"/>
              </a:ext>
            </a:extLst>
          </p:cNvPr>
          <p:cNvPicPr>
            <a:picLocks noChangeAspect="1"/>
          </p:cNvPicPr>
          <p:nvPr/>
        </p:nvPicPr>
        <p:blipFill>
          <a:blip r:embed="rId2"/>
          <a:stretch>
            <a:fillRect/>
          </a:stretch>
        </p:blipFill>
        <p:spPr>
          <a:xfrm>
            <a:off x="7508054" y="2203082"/>
            <a:ext cx="4162836" cy="4250404"/>
          </a:xfrm>
          <a:prstGeom prst="rect">
            <a:avLst/>
          </a:prstGeom>
        </p:spPr>
      </p:pic>
    </p:spTree>
    <p:extLst>
      <p:ext uri="{BB962C8B-B14F-4D97-AF65-F5344CB8AC3E}">
        <p14:creationId xmlns:p14="http://schemas.microsoft.com/office/powerpoint/2010/main" val="359911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5A5AF-573D-2EAD-1099-CD26B031726E}"/>
              </a:ext>
            </a:extLst>
          </p:cNvPr>
          <p:cNvSpPr>
            <a:spLocks noGrp="1"/>
          </p:cNvSpPr>
          <p:nvPr>
            <p:ph type="ctrTitle"/>
          </p:nvPr>
        </p:nvSpPr>
        <p:spPr>
          <a:xfrm>
            <a:off x="1595269" y="0"/>
            <a:ext cx="9001462" cy="934065"/>
          </a:xfrm>
        </p:spPr>
        <p:txBody>
          <a:bodyPr>
            <a:normAutofit/>
          </a:bodyPr>
          <a:lstStyle/>
          <a:p>
            <a:r>
              <a:rPr lang="en-US" dirty="0"/>
              <a:t>2 stroke engine</a:t>
            </a:r>
          </a:p>
        </p:txBody>
      </p:sp>
      <p:sp>
        <p:nvSpPr>
          <p:cNvPr id="3" name="Subtitle 2">
            <a:extLst>
              <a:ext uri="{FF2B5EF4-FFF2-40B4-BE49-F238E27FC236}">
                <a16:creationId xmlns:a16="http://schemas.microsoft.com/office/drawing/2014/main" id="{EAEAFB7E-3426-56EF-4E38-EE3AB7A8B20F}"/>
              </a:ext>
            </a:extLst>
          </p:cNvPr>
          <p:cNvSpPr>
            <a:spLocks noGrp="1"/>
          </p:cNvSpPr>
          <p:nvPr>
            <p:ph type="subTitle" idx="1"/>
          </p:nvPr>
        </p:nvSpPr>
        <p:spPr>
          <a:xfrm>
            <a:off x="521111" y="1376515"/>
            <a:ext cx="6990734" cy="5211097"/>
          </a:xfrm>
        </p:spPr>
        <p:txBody>
          <a:bodyPr/>
          <a:lstStyle/>
          <a:p>
            <a:r>
              <a:rPr lang="en-US" dirty="0">
                <a:effectLst/>
              </a:rPr>
              <a:t>I designed a 2-stroke engine model in Autodesk Fusion 360, putting together the piston-cylinder assembly, crankshaft, connecting rod, and ports. It’s pretty neat to see how the model shows a full power cycle in just two piston strokes, packing more punch than a 4-stroke </a:t>
            </a:r>
            <a:r>
              <a:rPr lang="en-US" dirty="0" err="1">
                <a:effectLst/>
              </a:rPr>
              <a:t>engine.This</a:t>
            </a:r>
            <a:r>
              <a:rPr lang="en-US" dirty="0">
                <a:effectLst/>
              </a:rPr>
              <a:t> project was a great way to level up my skills in handling complex assemblies, running motion simulations, and really getting how internal combustion engines work.</a:t>
            </a:r>
          </a:p>
          <a:p>
            <a:endParaRPr lang="en-US" dirty="0"/>
          </a:p>
        </p:txBody>
      </p:sp>
      <p:pic>
        <p:nvPicPr>
          <p:cNvPr id="5" name="Picture 4">
            <a:extLst>
              <a:ext uri="{FF2B5EF4-FFF2-40B4-BE49-F238E27FC236}">
                <a16:creationId xmlns:a16="http://schemas.microsoft.com/office/drawing/2014/main" id="{BB315F23-5391-2F10-F1F5-388BADD48586}"/>
              </a:ext>
            </a:extLst>
          </p:cNvPr>
          <p:cNvPicPr>
            <a:picLocks noChangeAspect="1"/>
          </p:cNvPicPr>
          <p:nvPr/>
        </p:nvPicPr>
        <p:blipFill>
          <a:blip r:embed="rId2"/>
          <a:stretch>
            <a:fillRect/>
          </a:stretch>
        </p:blipFill>
        <p:spPr>
          <a:xfrm>
            <a:off x="7806515" y="1544704"/>
            <a:ext cx="4385485" cy="5313296"/>
          </a:xfrm>
          <a:prstGeom prst="rect">
            <a:avLst/>
          </a:prstGeom>
        </p:spPr>
      </p:pic>
    </p:spTree>
    <p:extLst>
      <p:ext uri="{BB962C8B-B14F-4D97-AF65-F5344CB8AC3E}">
        <p14:creationId xmlns:p14="http://schemas.microsoft.com/office/powerpoint/2010/main" val="3610989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83CCE-818B-58F2-D34B-226B2642E343}"/>
              </a:ext>
            </a:extLst>
          </p:cNvPr>
          <p:cNvSpPr>
            <a:spLocks noGrp="1"/>
          </p:cNvSpPr>
          <p:nvPr>
            <p:ph type="ctrTitle"/>
          </p:nvPr>
        </p:nvSpPr>
        <p:spPr>
          <a:xfrm>
            <a:off x="1595269" y="98323"/>
            <a:ext cx="9001462" cy="1376516"/>
          </a:xfrm>
        </p:spPr>
        <p:txBody>
          <a:bodyPr>
            <a:normAutofit fontScale="90000"/>
          </a:bodyPr>
          <a:lstStyle/>
          <a:p>
            <a:r>
              <a:rPr lang="en-US" dirty="0"/>
              <a:t>Individual components for 2 stroke engine</a:t>
            </a:r>
          </a:p>
        </p:txBody>
      </p:sp>
      <p:pic>
        <p:nvPicPr>
          <p:cNvPr id="5" name="Picture 4">
            <a:extLst>
              <a:ext uri="{FF2B5EF4-FFF2-40B4-BE49-F238E27FC236}">
                <a16:creationId xmlns:a16="http://schemas.microsoft.com/office/drawing/2014/main" id="{3C6856FD-8CE9-4A9A-2514-B05497F1CA34}"/>
              </a:ext>
            </a:extLst>
          </p:cNvPr>
          <p:cNvPicPr>
            <a:picLocks noChangeAspect="1"/>
          </p:cNvPicPr>
          <p:nvPr/>
        </p:nvPicPr>
        <p:blipFill>
          <a:blip r:embed="rId2"/>
          <a:stretch>
            <a:fillRect/>
          </a:stretch>
        </p:blipFill>
        <p:spPr>
          <a:xfrm>
            <a:off x="-23022" y="1538430"/>
            <a:ext cx="2507397" cy="2611872"/>
          </a:xfrm>
          <a:prstGeom prst="rect">
            <a:avLst/>
          </a:prstGeom>
        </p:spPr>
      </p:pic>
      <p:pic>
        <p:nvPicPr>
          <p:cNvPr id="7" name="Picture 6">
            <a:extLst>
              <a:ext uri="{FF2B5EF4-FFF2-40B4-BE49-F238E27FC236}">
                <a16:creationId xmlns:a16="http://schemas.microsoft.com/office/drawing/2014/main" id="{D6B770DF-D55E-BF11-E91B-E8148F71E4D3}"/>
              </a:ext>
            </a:extLst>
          </p:cNvPr>
          <p:cNvPicPr>
            <a:picLocks noChangeAspect="1"/>
          </p:cNvPicPr>
          <p:nvPr/>
        </p:nvPicPr>
        <p:blipFill>
          <a:blip r:embed="rId3"/>
          <a:stretch>
            <a:fillRect/>
          </a:stretch>
        </p:blipFill>
        <p:spPr>
          <a:xfrm>
            <a:off x="2484375" y="1538430"/>
            <a:ext cx="2685410" cy="2617865"/>
          </a:xfrm>
          <a:prstGeom prst="rect">
            <a:avLst/>
          </a:prstGeom>
        </p:spPr>
      </p:pic>
      <p:pic>
        <p:nvPicPr>
          <p:cNvPr id="9" name="Picture 8">
            <a:extLst>
              <a:ext uri="{FF2B5EF4-FFF2-40B4-BE49-F238E27FC236}">
                <a16:creationId xmlns:a16="http://schemas.microsoft.com/office/drawing/2014/main" id="{8EE1B1C3-405F-C741-8EA3-EBD3ABDB3F08}"/>
              </a:ext>
            </a:extLst>
          </p:cNvPr>
          <p:cNvPicPr>
            <a:picLocks noChangeAspect="1"/>
          </p:cNvPicPr>
          <p:nvPr/>
        </p:nvPicPr>
        <p:blipFill>
          <a:blip r:embed="rId4"/>
          <a:stretch>
            <a:fillRect/>
          </a:stretch>
        </p:blipFill>
        <p:spPr>
          <a:xfrm>
            <a:off x="5179218" y="1538430"/>
            <a:ext cx="3293063" cy="2634809"/>
          </a:xfrm>
          <a:prstGeom prst="rect">
            <a:avLst/>
          </a:prstGeom>
        </p:spPr>
      </p:pic>
      <p:pic>
        <p:nvPicPr>
          <p:cNvPr id="11" name="Picture 10">
            <a:extLst>
              <a:ext uri="{FF2B5EF4-FFF2-40B4-BE49-F238E27FC236}">
                <a16:creationId xmlns:a16="http://schemas.microsoft.com/office/drawing/2014/main" id="{3FD3536B-F256-0559-201F-D81B34494DCB}"/>
              </a:ext>
            </a:extLst>
          </p:cNvPr>
          <p:cNvPicPr>
            <a:picLocks noChangeAspect="1"/>
          </p:cNvPicPr>
          <p:nvPr/>
        </p:nvPicPr>
        <p:blipFill>
          <a:blip r:embed="rId5"/>
          <a:stretch>
            <a:fillRect/>
          </a:stretch>
        </p:blipFill>
        <p:spPr>
          <a:xfrm>
            <a:off x="8481714" y="1518751"/>
            <a:ext cx="1573898" cy="2634809"/>
          </a:xfrm>
          <a:prstGeom prst="rect">
            <a:avLst/>
          </a:prstGeom>
        </p:spPr>
      </p:pic>
      <p:pic>
        <p:nvPicPr>
          <p:cNvPr id="13" name="Picture 12">
            <a:extLst>
              <a:ext uri="{FF2B5EF4-FFF2-40B4-BE49-F238E27FC236}">
                <a16:creationId xmlns:a16="http://schemas.microsoft.com/office/drawing/2014/main" id="{7F3C76EC-BBD1-3D6D-5033-A8606ACE3C04}"/>
              </a:ext>
            </a:extLst>
          </p:cNvPr>
          <p:cNvPicPr>
            <a:picLocks noChangeAspect="1"/>
          </p:cNvPicPr>
          <p:nvPr/>
        </p:nvPicPr>
        <p:blipFill>
          <a:blip r:embed="rId6"/>
          <a:stretch>
            <a:fillRect/>
          </a:stretch>
        </p:blipFill>
        <p:spPr>
          <a:xfrm>
            <a:off x="10055612" y="1474839"/>
            <a:ext cx="2195796" cy="2678722"/>
          </a:xfrm>
          <a:prstGeom prst="rect">
            <a:avLst/>
          </a:prstGeom>
        </p:spPr>
      </p:pic>
      <p:sp>
        <p:nvSpPr>
          <p:cNvPr id="14" name="TextBox 13">
            <a:extLst>
              <a:ext uri="{FF2B5EF4-FFF2-40B4-BE49-F238E27FC236}">
                <a16:creationId xmlns:a16="http://schemas.microsoft.com/office/drawing/2014/main" id="{17A30F68-C2D2-04FC-6DC4-6DE319A0FB2D}"/>
              </a:ext>
            </a:extLst>
          </p:cNvPr>
          <p:cNvSpPr txBox="1"/>
          <p:nvPr/>
        </p:nvSpPr>
        <p:spPr>
          <a:xfrm>
            <a:off x="157316" y="4542503"/>
            <a:ext cx="1838632" cy="369332"/>
          </a:xfrm>
          <a:prstGeom prst="rect">
            <a:avLst/>
          </a:prstGeom>
          <a:noFill/>
        </p:spPr>
        <p:txBody>
          <a:bodyPr wrap="square" rtlCol="0">
            <a:spAutoFit/>
          </a:bodyPr>
          <a:lstStyle/>
          <a:p>
            <a:r>
              <a:rPr lang="en-US" dirty="0"/>
              <a:t>       Upper part</a:t>
            </a:r>
          </a:p>
        </p:txBody>
      </p:sp>
      <p:sp>
        <p:nvSpPr>
          <p:cNvPr id="15" name="TextBox 14">
            <a:extLst>
              <a:ext uri="{FF2B5EF4-FFF2-40B4-BE49-F238E27FC236}">
                <a16:creationId xmlns:a16="http://schemas.microsoft.com/office/drawing/2014/main" id="{C9BDDC53-6AA5-6385-EB85-45CFF66BFBE0}"/>
              </a:ext>
            </a:extLst>
          </p:cNvPr>
          <p:cNvSpPr txBox="1"/>
          <p:nvPr/>
        </p:nvSpPr>
        <p:spPr>
          <a:xfrm>
            <a:off x="2625213" y="4621161"/>
            <a:ext cx="2281084" cy="369332"/>
          </a:xfrm>
          <a:prstGeom prst="rect">
            <a:avLst/>
          </a:prstGeom>
          <a:noFill/>
        </p:spPr>
        <p:txBody>
          <a:bodyPr wrap="square" rtlCol="0">
            <a:spAutoFit/>
          </a:bodyPr>
          <a:lstStyle/>
          <a:p>
            <a:r>
              <a:rPr lang="en-US" dirty="0"/>
              <a:t>         Lower part</a:t>
            </a:r>
          </a:p>
        </p:txBody>
      </p:sp>
      <p:sp>
        <p:nvSpPr>
          <p:cNvPr id="16" name="TextBox 15">
            <a:extLst>
              <a:ext uri="{FF2B5EF4-FFF2-40B4-BE49-F238E27FC236}">
                <a16:creationId xmlns:a16="http://schemas.microsoft.com/office/drawing/2014/main" id="{7939B263-3760-5756-4C30-8D02F3421701}"/>
              </a:ext>
            </a:extLst>
          </p:cNvPr>
          <p:cNvSpPr txBox="1"/>
          <p:nvPr/>
        </p:nvSpPr>
        <p:spPr>
          <a:xfrm>
            <a:off x="5146457" y="4581832"/>
            <a:ext cx="2965156" cy="369332"/>
          </a:xfrm>
          <a:prstGeom prst="rect">
            <a:avLst/>
          </a:prstGeom>
          <a:noFill/>
        </p:spPr>
        <p:txBody>
          <a:bodyPr wrap="square" rtlCol="0">
            <a:spAutoFit/>
          </a:bodyPr>
          <a:lstStyle/>
          <a:p>
            <a:r>
              <a:rPr lang="en-US" dirty="0"/>
              <a:t>            Crankshaft</a:t>
            </a:r>
          </a:p>
        </p:txBody>
      </p:sp>
      <p:sp>
        <p:nvSpPr>
          <p:cNvPr id="17" name="TextBox 16">
            <a:extLst>
              <a:ext uri="{FF2B5EF4-FFF2-40B4-BE49-F238E27FC236}">
                <a16:creationId xmlns:a16="http://schemas.microsoft.com/office/drawing/2014/main" id="{C0686AC1-60CE-EADE-FFC9-D66912AE722D}"/>
              </a:ext>
            </a:extLst>
          </p:cNvPr>
          <p:cNvSpPr txBox="1"/>
          <p:nvPr/>
        </p:nvSpPr>
        <p:spPr>
          <a:xfrm>
            <a:off x="8308258" y="4689987"/>
            <a:ext cx="1747354" cy="369332"/>
          </a:xfrm>
          <a:prstGeom prst="rect">
            <a:avLst/>
          </a:prstGeom>
          <a:noFill/>
        </p:spPr>
        <p:txBody>
          <a:bodyPr wrap="square" rtlCol="0">
            <a:spAutoFit/>
          </a:bodyPr>
          <a:lstStyle/>
          <a:p>
            <a:r>
              <a:rPr lang="en-US" dirty="0"/>
              <a:t>Crank</a:t>
            </a:r>
          </a:p>
        </p:txBody>
      </p:sp>
      <p:sp>
        <p:nvSpPr>
          <p:cNvPr id="18" name="TextBox 17">
            <a:extLst>
              <a:ext uri="{FF2B5EF4-FFF2-40B4-BE49-F238E27FC236}">
                <a16:creationId xmlns:a16="http://schemas.microsoft.com/office/drawing/2014/main" id="{777E8035-D25E-B7C3-64AB-3BA2A9BED6F1}"/>
              </a:ext>
            </a:extLst>
          </p:cNvPr>
          <p:cNvSpPr txBox="1"/>
          <p:nvPr/>
        </p:nvSpPr>
        <p:spPr>
          <a:xfrm>
            <a:off x="10146890" y="4621161"/>
            <a:ext cx="2045110" cy="369332"/>
          </a:xfrm>
          <a:prstGeom prst="rect">
            <a:avLst/>
          </a:prstGeom>
          <a:noFill/>
        </p:spPr>
        <p:txBody>
          <a:bodyPr wrap="square" rtlCol="0">
            <a:spAutoFit/>
          </a:bodyPr>
          <a:lstStyle/>
          <a:p>
            <a:r>
              <a:rPr lang="en-US" dirty="0"/>
              <a:t>Piston</a:t>
            </a:r>
          </a:p>
        </p:txBody>
      </p:sp>
    </p:spTree>
    <p:extLst>
      <p:ext uri="{BB962C8B-B14F-4D97-AF65-F5344CB8AC3E}">
        <p14:creationId xmlns:p14="http://schemas.microsoft.com/office/powerpoint/2010/main" val="475923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6A708-DD09-B700-8B2D-222AE5F3E7DA}"/>
              </a:ext>
            </a:extLst>
          </p:cNvPr>
          <p:cNvSpPr>
            <a:spLocks noGrp="1"/>
          </p:cNvSpPr>
          <p:nvPr>
            <p:ph type="ctrTitle"/>
          </p:nvPr>
        </p:nvSpPr>
        <p:spPr>
          <a:xfrm>
            <a:off x="1595269" y="0"/>
            <a:ext cx="9001462" cy="786581"/>
          </a:xfrm>
        </p:spPr>
        <p:txBody>
          <a:bodyPr/>
          <a:lstStyle/>
          <a:p>
            <a:r>
              <a:rPr lang="en-US" dirty="0"/>
              <a:t>Servo motor</a:t>
            </a:r>
          </a:p>
        </p:txBody>
      </p:sp>
      <p:pic>
        <p:nvPicPr>
          <p:cNvPr id="5" name="Picture 4">
            <a:extLst>
              <a:ext uri="{FF2B5EF4-FFF2-40B4-BE49-F238E27FC236}">
                <a16:creationId xmlns:a16="http://schemas.microsoft.com/office/drawing/2014/main" id="{74D36B27-43CD-3741-67A2-A6977DC71DD3}"/>
              </a:ext>
            </a:extLst>
          </p:cNvPr>
          <p:cNvPicPr>
            <a:picLocks noChangeAspect="1"/>
          </p:cNvPicPr>
          <p:nvPr/>
        </p:nvPicPr>
        <p:blipFill>
          <a:blip r:embed="rId2"/>
          <a:stretch>
            <a:fillRect/>
          </a:stretch>
        </p:blipFill>
        <p:spPr>
          <a:xfrm>
            <a:off x="6981098" y="1116333"/>
            <a:ext cx="5210902" cy="5751499"/>
          </a:xfrm>
          <a:prstGeom prst="rect">
            <a:avLst/>
          </a:prstGeom>
        </p:spPr>
      </p:pic>
      <p:sp>
        <p:nvSpPr>
          <p:cNvPr id="6" name="Rectangle 1">
            <a:extLst>
              <a:ext uri="{FF2B5EF4-FFF2-40B4-BE49-F238E27FC236}">
                <a16:creationId xmlns:a16="http://schemas.microsoft.com/office/drawing/2014/main" id="{FEADD7B4-37A6-726D-2C94-D4A2855F8FE7}"/>
              </a:ext>
            </a:extLst>
          </p:cNvPr>
          <p:cNvSpPr>
            <a:spLocks noGrp="1" noChangeArrowheads="1"/>
          </p:cNvSpPr>
          <p:nvPr>
            <p:ph type="subTitle" idx="1"/>
          </p:nvPr>
        </p:nvSpPr>
        <p:spPr bwMode="auto">
          <a:xfrm>
            <a:off x="847518" y="1592031"/>
            <a:ext cx="510099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effectLst/>
                <a:latin typeface="Arial" panose="020B0604020202020204" pitchFamily="34" charset="0"/>
                <a:cs typeface="Arial" panose="020B0604020202020204" pitchFamily="34" charset="0"/>
              </a:rPr>
              <a:t>I crafted a servo motor model in Autodesk Fusion 360, building out the casing, rotor, shaft, and gear setup. It’s cool to see how the model captures the compact design of servo motors, which are key for nailing precise angular control in robotics, CNC machines, and automation gear. This project really boosted my grasp of electromechanical parts, sharpened my precision modeling, and leveled up my CAD detailing and assembly design skills.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080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E1993-BF35-AC83-DB60-BB65BEA0471C}"/>
              </a:ext>
            </a:extLst>
          </p:cNvPr>
          <p:cNvSpPr>
            <a:spLocks noGrp="1"/>
          </p:cNvSpPr>
          <p:nvPr>
            <p:ph type="title"/>
          </p:nvPr>
        </p:nvSpPr>
        <p:spPr>
          <a:xfrm>
            <a:off x="756479" y="0"/>
            <a:ext cx="10353761" cy="1326321"/>
          </a:xfrm>
        </p:spPr>
        <p:txBody>
          <a:bodyPr/>
          <a:lstStyle/>
          <a:p>
            <a:r>
              <a:rPr lang="en-US" dirty="0"/>
              <a:t>Roller bearing</a:t>
            </a:r>
          </a:p>
        </p:txBody>
      </p:sp>
      <p:pic>
        <p:nvPicPr>
          <p:cNvPr id="4" name="Picture 3">
            <a:extLst>
              <a:ext uri="{FF2B5EF4-FFF2-40B4-BE49-F238E27FC236}">
                <a16:creationId xmlns:a16="http://schemas.microsoft.com/office/drawing/2014/main" id="{60E09C51-3FD8-542C-C5E4-6C207DA328C2}"/>
              </a:ext>
            </a:extLst>
          </p:cNvPr>
          <p:cNvPicPr>
            <a:picLocks noChangeAspect="1"/>
          </p:cNvPicPr>
          <p:nvPr/>
        </p:nvPicPr>
        <p:blipFill>
          <a:blip r:embed="rId2"/>
          <a:stretch>
            <a:fillRect/>
          </a:stretch>
        </p:blipFill>
        <p:spPr>
          <a:xfrm>
            <a:off x="6465661" y="1846351"/>
            <a:ext cx="5726339" cy="5011649"/>
          </a:xfrm>
          <a:prstGeom prst="rect">
            <a:avLst/>
          </a:prstGeom>
        </p:spPr>
      </p:pic>
      <p:sp>
        <p:nvSpPr>
          <p:cNvPr id="5" name="TextBox 4">
            <a:extLst>
              <a:ext uri="{FF2B5EF4-FFF2-40B4-BE49-F238E27FC236}">
                <a16:creationId xmlns:a16="http://schemas.microsoft.com/office/drawing/2014/main" id="{9CB3C95A-762F-0B7B-6B34-512DAD50EB77}"/>
              </a:ext>
            </a:extLst>
          </p:cNvPr>
          <p:cNvSpPr txBox="1"/>
          <p:nvPr/>
        </p:nvSpPr>
        <p:spPr>
          <a:xfrm>
            <a:off x="515244" y="2054942"/>
            <a:ext cx="5211096" cy="3785652"/>
          </a:xfrm>
          <a:prstGeom prst="rect">
            <a:avLst/>
          </a:prstGeom>
          <a:noFill/>
        </p:spPr>
        <p:txBody>
          <a:bodyPr wrap="square" rtlCol="0">
            <a:spAutoFit/>
          </a:bodyPr>
          <a:lstStyle/>
          <a:p>
            <a:r>
              <a:rPr lang="en-US" sz="2400" dirty="0"/>
              <a:t>Modeled a roller bearing assembly in SolidWorks, including the inner race, outer race, rollers, and cage, using precise dimensional relationships. Assembled the components with appropriate mates to simulate rotational motion and verified clearances, alignment, and load distribution within the bearing.</a:t>
            </a:r>
          </a:p>
        </p:txBody>
      </p:sp>
    </p:spTree>
    <p:extLst>
      <p:ext uri="{BB962C8B-B14F-4D97-AF65-F5344CB8AC3E}">
        <p14:creationId xmlns:p14="http://schemas.microsoft.com/office/powerpoint/2010/main" val="3937273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AB53E-FDA6-8389-1A99-121609151007}"/>
              </a:ext>
            </a:extLst>
          </p:cNvPr>
          <p:cNvSpPr>
            <a:spLocks noGrp="1"/>
          </p:cNvSpPr>
          <p:nvPr>
            <p:ph type="ctrTitle"/>
          </p:nvPr>
        </p:nvSpPr>
        <p:spPr>
          <a:xfrm>
            <a:off x="1595269" y="88490"/>
            <a:ext cx="9001462" cy="1415845"/>
          </a:xfrm>
        </p:spPr>
        <p:txBody>
          <a:bodyPr>
            <a:normAutofit/>
          </a:bodyPr>
          <a:lstStyle/>
          <a:p>
            <a:r>
              <a:rPr lang="en-US" dirty="0"/>
              <a:t>Autonomous UNDERWATER VEHICLE</a:t>
            </a:r>
          </a:p>
        </p:txBody>
      </p:sp>
      <p:pic>
        <p:nvPicPr>
          <p:cNvPr id="5" name="Picture 4">
            <a:extLst>
              <a:ext uri="{FF2B5EF4-FFF2-40B4-BE49-F238E27FC236}">
                <a16:creationId xmlns:a16="http://schemas.microsoft.com/office/drawing/2014/main" id="{979E8199-A2E2-A065-706B-49843036B28F}"/>
              </a:ext>
            </a:extLst>
          </p:cNvPr>
          <p:cNvPicPr>
            <a:picLocks noChangeAspect="1"/>
          </p:cNvPicPr>
          <p:nvPr/>
        </p:nvPicPr>
        <p:blipFill>
          <a:blip r:embed="rId2"/>
          <a:stretch>
            <a:fillRect/>
          </a:stretch>
        </p:blipFill>
        <p:spPr>
          <a:xfrm>
            <a:off x="5979789" y="1600200"/>
            <a:ext cx="6212211" cy="5261618"/>
          </a:xfrm>
          <a:prstGeom prst="rect">
            <a:avLst/>
          </a:prstGeom>
        </p:spPr>
      </p:pic>
      <p:sp>
        <p:nvSpPr>
          <p:cNvPr id="9" name="Subtitle 8">
            <a:extLst>
              <a:ext uri="{FF2B5EF4-FFF2-40B4-BE49-F238E27FC236}">
                <a16:creationId xmlns:a16="http://schemas.microsoft.com/office/drawing/2014/main" id="{88130813-9B58-3BB3-28D8-EAD70BAF4AC5}"/>
              </a:ext>
            </a:extLst>
          </p:cNvPr>
          <p:cNvSpPr>
            <a:spLocks noGrp="1"/>
          </p:cNvSpPr>
          <p:nvPr>
            <p:ph type="subTitle" idx="1"/>
          </p:nvPr>
        </p:nvSpPr>
        <p:spPr>
          <a:xfrm>
            <a:off x="167149" y="1600200"/>
            <a:ext cx="5683046" cy="5169310"/>
          </a:xfrm>
        </p:spPr>
        <p:txBody>
          <a:bodyPr>
            <a:normAutofit/>
          </a:bodyPr>
          <a:lstStyle/>
          <a:p>
            <a:r>
              <a:rPr lang="en-US" sz="1800" dirty="0">
                <a:effectLst/>
              </a:rPr>
              <a:t>I'm diving into designing and building an Autonomous Underwater Vehicle (AUV) for Gujarat </a:t>
            </a:r>
            <a:r>
              <a:rPr lang="en-US" sz="1800" dirty="0" err="1">
                <a:effectLst/>
              </a:rPr>
              <a:t>Robofest</a:t>
            </a:r>
            <a:r>
              <a:rPr lang="en-US" sz="1800" dirty="0">
                <a:effectLst/>
              </a:rPr>
              <a:t> 5.0, aiming to create a tough, self-sufficient underwater robot that can navigate, detect objects, and tackle tasks without any human nudging.</a:t>
            </a:r>
            <a:r>
              <a:rPr lang="en-US" dirty="0">
                <a:effectLst/>
              </a:rPr>
              <a:t> </a:t>
            </a:r>
            <a:r>
              <a:rPr lang="en-US" sz="1900" dirty="0">
                <a:effectLst/>
              </a:rPr>
              <a:t>The design process has me shaping the hull, hooking up the propulsion system, tweaking buoyancy control, and strategically placing onboard sensors to keep the AUV stable and nimble. Using Fusion 360 I’ve put together a detailed 3D model, complete with cutouts for thrusters, sensor mounts, and a snug spot for the electronics.</a:t>
            </a:r>
          </a:p>
          <a:p>
            <a:endParaRPr lang="en-US" sz="1800" dirty="0">
              <a:effectLst/>
            </a:endParaRPr>
          </a:p>
          <a:p>
            <a:endParaRPr lang="en-US" dirty="0"/>
          </a:p>
        </p:txBody>
      </p:sp>
    </p:spTree>
    <p:extLst>
      <p:ext uri="{BB962C8B-B14F-4D97-AF65-F5344CB8AC3E}">
        <p14:creationId xmlns:p14="http://schemas.microsoft.com/office/powerpoint/2010/main" val="3547279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56D90-DA92-D02D-8251-92E9C584E239}"/>
              </a:ext>
            </a:extLst>
          </p:cNvPr>
          <p:cNvSpPr>
            <a:spLocks noGrp="1"/>
          </p:cNvSpPr>
          <p:nvPr>
            <p:ph type="ctrTitle"/>
          </p:nvPr>
        </p:nvSpPr>
        <p:spPr>
          <a:xfrm>
            <a:off x="1595269" y="1"/>
            <a:ext cx="9001462" cy="1582994"/>
          </a:xfrm>
        </p:spPr>
        <p:txBody>
          <a:bodyPr>
            <a:normAutofit/>
          </a:bodyPr>
          <a:lstStyle/>
          <a:p>
            <a:r>
              <a:rPr lang="en-US" dirty="0"/>
              <a:t>Individual components of </a:t>
            </a:r>
            <a:r>
              <a:rPr lang="en-US" dirty="0" err="1"/>
              <a:t>auv</a:t>
            </a:r>
            <a:endParaRPr lang="en-US" dirty="0"/>
          </a:p>
        </p:txBody>
      </p:sp>
      <p:pic>
        <p:nvPicPr>
          <p:cNvPr id="5" name="Picture 4">
            <a:extLst>
              <a:ext uri="{FF2B5EF4-FFF2-40B4-BE49-F238E27FC236}">
                <a16:creationId xmlns:a16="http://schemas.microsoft.com/office/drawing/2014/main" id="{8F74504D-A771-8161-A073-0DEDF83D329A}"/>
              </a:ext>
            </a:extLst>
          </p:cNvPr>
          <p:cNvPicPr>
            <a:picLocks noChangeAspect="1"/>
          </p:cNvPicPr>
          <p:nvPr/>
        </p:nvPicPr>
        <p:blipFill>
          <a:blip r:embed="rId2"/>
          <a:stretch>
            <a:fillRect/>
          </a:stretch>
        </p:blipFill>
        <p:spPr>
          <a:xfrm>
            <a:off x="0" y="2207273"/>
            <a:ext cx="3062013" cy="3175865"/>
          </a:xfrm>
          <a:prstGeom prst="rect">
            <a:avLst/>
          </a:prstGeom>
        </p:spPr>
      </p:pic>
      <p:pic>
        <p:nvPicPr>
          <p:cNvPr id="7" name="Picture 6">
            <a:extLst>
              <a:ext uri="{FF2B5EF4-FFF2-40B4-BE49-F238E27FC236}">
                <a16:creationId xmlns:a16="http://schemas.microsoft.com/office/drawing/2014/main" id="{7C5DA65D-6834-9C31-CAA1-62303C9B7177}"/>
              </a:ext>
            </a:extLst>
          </p:cNvPr>
          <p:cNvPicPr>
            <a:picLocks noChangeAspect="1"/>
          </p:cNvPicPr>
          <p:nvPr/>
        </p:nvPicPr>
        <p:blipFill>
          <a:blip r:embed="rId3"/>
          <a:stretch>
            <a:fillRect/>
          </a:stretch>
        </p:blipFill>
        <p:spPr>
          <a:xfrm>
            <a:off x="3062013" y="2207273"/>
            <a:ext cx="2957796" cy="3175865"/>
          </a:xfrm>
          <a:prstGeom prst="rect">
            <a:avLst/>
          </a:prstGeom>
        </p:spPr>
      </p:pic>
      <p:pic>
        <p:nvPicPr>
          <p:cNvPr id="9" name="Picture 8">
            <a:extLst>
              <a:ext uri="{FF2B5EF4-FFF2-40B4-BE49-F238E27FC236}">
                <a16:creationId xmlns:a16="http://schemas.microsoft.com/office/drawing/2014/main" id="{91993962-10AC-7D83-394E-59B97E5A0D14}"/>
              </a:ext>
            </a:extLst>
          </p:cNvPr>
          <p:cNvPicPr>
            <a:picLocks noChangeAspect="1"/>
          </p:cNvPicPr>
          <p:nvPr/>
        </p:nvPicPr>
        <p:blipFill>
          <a:blip r:embed="rId4"/>
          <a:stretch>
            <a:fillRect/>
          </a:stretch>
        </p:blipFill>
        <p:spPr>
          <a:xfrm>
            <a:off x="6019809" y="2207273"/>
            <a:ext cx="1904991" cy="3160553"/>
          </a:xfrm>
          <a:prstGeom prst="rect">
            <a:avLst/>
          </a:prstGeom>
        </p:spPr>
      </p:pic>
      <p:pic>
        <p:nvPicPr>
          <p:cNvPr id="11" name="Picture 10">
            <a:extLst>
              <a:ext uri="{FF2B5EF4-FFF2-40B4-BE49-F238E27FC236}">
                <a16:creationId xmlns:a16="http://schemas.microsoft.com/office/drawing/2014/main" id="{AAAD5449-E624-0DBB-DC92-EE0AFF1CEE5F}"/>
              </a:ext>
            </a:extLst>
          </p:cNvPr>
          <p:cNvPicPr>
            <a:picLocks noChangeAspect="1"/>
          </p:cNvPicPr>
          <p:nvPr/>
        </p:nvPicPr>
        <p:blipFill>
          <a:blip r:embed="rId5"/>
          <a:stretch>
            <a:fillRect/>
          </a:stretch>
        </p:blipFill>
        <p:spPr>
          <a:xfrm>
            <a:off x="7924800" y="2207273"/>
            <a:ext cx="1958725" cy="3149068"/>
          </a:xfrm>
          <a:prstGeom prst="rect">
            <a:avLst/>
          </a:prstGeom>
        </p:spPr>
      </p:pic>
      <p:pic>
        <p:nvPicPr>
          <p:cNvPr id="13" name="Picture 12">
            <a:extLst>
              <a:ext uri="{FF2B5EF4-FFF2-40B4-BE49-F238E27FC236}">
                <a16:creationId xmlns:a16="http://schemas.microsoft.com/office/drawing/2014/main" id="{75CBCE5A-1A20-0892-5BC3-C841D01187BB}"/>
              </a:ext>
            </a:extLst>
          </p:cNvPr>
          <p:cNvPicPr>
            <a:picLocks noChangeAspect="1"/>
          </p:cNvPicPr>
          <p:nvPr/>
        </p:nvPicPr>
        <p:blipFill>
          <a:blip r:embed="rId6"/>
          <a:stretch>
            <a:fillRect/>
          </a:stretch>
        </p:blipFill>
        <p:spPr>
          <a:xfrm>
            <a:off x="9883525" y="2207273"/>
            <a:ext cx="2308475" cy="3149068"/>
          </a:xfrm>
          <a:prstGeom prst="rect">
            <a:avLst/>
          </a:prstGeom>
        </p:spPr>
      </p:pic>
      <p:sp>
        <p:nvSpPr>
          <p:cNvPr id="14" name="TextBox 13">
            <a:extLst>
              <a:ext uri="{FF2B5EF4-FFF2-40B4-BE49-F238E27FC236}">
                <a16:creationId xmlns:a16="http://schemas.microsoft.com/office/drawing/2014/main" id="{75B1B955-C691-6CDA-D744-551C884D6508}"/>
              </a:ext>
            </a:extLst>
          </p:cNvPr>
          <p:cNvSpPr txBox="1"/>
          <p:nvPr/>
        </p:nvSpPr>
        <p:spPr>
          <a:xfrm>
            <a:off x="117987" y="5791200"/>
            <a:ext cx="2241755" cy="369332"/>
          </a:xfrm>
          <a:prstGeom prst="rect">
            <a:avLst/>
          </a:prstGeom>
          <a:noFill/>
        </p:spPr>
        <p:txBody>
          <a:bodyPr wrap="square" rtlCol="0">
            <a:spAutoFit/>
          </a:bodyPr>
          <a:lstStyle/>
          <a:p>
            <a:r>
              <a:rPr lang="en-US" dirty="0"/>
              <a:t>           Thrusters</a:t>
            </a:r>
          </a:p>
        </p:txBody>
      </p:sp>
      <p:sp>
        <p:nvSpPr>
          <p:cNvPr id="15" name="TextBox 14">
            <a:extLst>
              <a:ext uri="{FF2B5EF4-FFF2-40B4-BE49-F238E27FC236}">
                <a16:creationId xmlns:a16="http://schemas.microsoft.com/office/drawing/2014/main" id="{9FF4AADC-AA5A-D065-6372-44434900EA26}"/>
              </a:ext>
            </a:extLst>
          </p:cNvPr>
          <p:cNvSpPr txBox="1"/>
          <p:nvPr/>
        </p:nvSpPr>
        <p:spPr>
          <a:xfrm>
            <a:off x="3146323" y="5791200"/>
            <a:ext cx="2546554" cy="369332"/>
          </a:xfrm>
          <a:prstGeom prst="rect">
            <a:avLst/>
          </a:prstGeom>
          <a:noFill/>
        </p:spPr>
        <p:txBody>
          <a:bodyPr wrap="square" rtlCol="0">
            <a:spAutoFit/>
          </a:bodyPr>
          <a:lstStyle/>
          <a:p>
            <a:r>
              <a:rPr lang="en-US" dirty="0"/>
              <a:t>         Side frame</a:t>
            </a:r>
          </a:p>
        </p:txBody>
      </p:sp>
      <p:sp>
        <p:nvSpPr>
          <p:cNvPr id="16" name="TextBox 15">
            <a:extLst>
              <a:ext uri="{FF2B5EF4-FFF2-40B4-BE49-F238E27FC236}">
                <a16:creationId xmlns:a16="http://schemas.microsoft.com/office/drawing/2014/main" id="{9594F60D-6CB4-BE9A-C355-D880AE4A2C6B}"/>
              </a:ext>
            </a:extLst>
          </p:cNvPr>
          <p:cNvSpPr txBox="1"/>
          <p:nvPr/>
        </p:nvSpPr>
        <p:spPr>
          <a:xfrm>
            <a:off x="5830529" y="5791200"/>
            <a:ext cx="2241755" cy="369332"/>
          </a:xfrm>
          <a:prstGeom prst="rect">
            <a:avLst/>
          </a:prstGeom>
          <a:noFill/>
        </p:spPr>
        <p:txBody>
          <a:bodyPr wrap="square" rtlCol="0">
            <a:spAutoFit/>
          </a:bodyPr>
          <a:lstStyle/>
          <a:p>
            <a:r>
              <a:rPr lang="en-US" dirty="0"/>
              <a:t>       Base frame</a:t>
            </a:r>
          </a:p>
        </p:txBody>
      </p:sp>
      <p:sp>
        <p:nvSpPr>
          <p:cNvPr id="17" name="TextBox 16">
            <a:extLst>
              <a:ext uri="{FF2B5EF4-FFF2-40B4-BE49-F238E27FC236}">
                <a16:creationId xmlns:a16="http://schemas.microsoft.com/office/drawing/2014/main" id="{04B0E3E6-A697-1BDE-B5C3-C239AFCD65D7}"/>
              </a:ext>
            </a:extLst>
          </p:cNvPr>
          <p:cNvSpPr txBox="1"/>
          <p:nvPr/>
        </p:nvSpPr>
        <p:spPr>
          <a:xfrm>
            <a:off x="8072284" y="5791200"/>
            <a:ext cx="1986116" cy="923330"/>
          </a:xfrm>
          <a:prstGeom prst="rect">
            <a:avLst/>
          </a:prstGeom>
          <a:noFill/>
        </p:spPr>
        <p:txBody>
          <a:bodyPr wrap="square" rtlCol="0">
            <a:spAutoFit/>
          </a:bodyPr>
          <a:lstStyle/>
          <a:p>
            <a:r>
              <a:rPr lang="en-US" dirty="0"/>
              <a:t>Support for pipe</a:t>
            </a:r>
          </a:p>
          <a:p>
            <a:r>
              <a:rPr lang="en-US" dirty="0"/>
              <a:t>And buoyancy foam</a:t>
            </a:r>
          </a:p>
        </p:txBody>
      </p:sp>
      <p:sp>
        <p:nvSpPr>
          <p:cNvPr id="18" name="TextBox 17">
            <a:extLst>
              <a:ext uri="{FF2B5EF4-FFF2-40B4-BE49-F238E27FC236}">
                <a16:creationId xmlns:a16="http://schemas.microsoft.com/office/drawing/2014/main" id="{BAB2822B-3C48-D98E-8691-A83C7B3E73B4}"/>
              </a:ext>
            </a:extLst>
          </p:cNvPr>
          <p:cNvSpPr txBox="1"/>
          <p:nvPr/>
        </p:nvSpPr>
        <p:spPr>
          <a:xfrm>
            <a:off x="10392697" y="5791200"/>
            <a:ext cx="1799303" cy="646331"/>
          </a:xfrm>
          <a:prstGeom prst="rect">
            <a:avLst/>
          </a:prstGeom>
          <a:noFill/>
        </p:spPr>
        <p:txBody>
          <a:bodyPr wrap="square" rtlCol="0">
            <a:spAutoFit/>
          </a:bodyPr>
          <a:lstStyle/>
          <a:p>
            <a:r>
              <a:rPr lang="en-US" dirty="0"/>
              <a:t>Electronics pipe</a:t>
            </a:r>
          </a:p>
        </p:txBody>
      </p:sp>
    </p:spTree>
    <p:extLst>
      <p:ext uri="{BB962C8B-B14F-4D97-AF65-F5344CB8AC3E}">
        <p14:creationId xmlns:p14="http://schemas.microsoft.com/office/powerpoint/2010/main" val="106308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D9867-8A5F-3ED6-AC1C-316475E829F0}"/>
              </a:ext>
            </a:extLst>
          </p:cNvPr>
          <p:cNvSpPr>
            <a:spLocks noGrp="1"/>
          </p:cNvSpPr>
          <p:nvPr>
            <p:ph type="title"/>
          </p:nvPr>
        </p:nvSpPr>
        <p:spPr>
          <a:xfrm>
            <a:off x="726982" y="68826"/>
            <a:ext cx="10353761" cy="1326321"/>
          </a:xfrm>
        </p:spPr>
        <p:txBody>
          <a:bodyPr/>
          <a:lstStyle/>
          <a:p>
            <a:r>
              <a:rPr lang="en-US" dirty="0"/>
              <a:t>4 cylinder Engine</a:t>
            </a:r>
          </a:p>
        </p:txBody>
      </p:sp>
      <p:pic>
        <p:nvPicPr>
          <p:cNvPr id="4" name="Picture 3">
            <a:extLst>
              <a:ext uri="{FF2B5EF4-FFF2-40B4-BE49-F238E27FC236}">
                <a16:creationId xmlns:a16="http://schemas.microsoft.com/office/drawing/2014/main" id="{45C1E16E-ED83-04A1-639D-6E94699B34B3}"/>
              </a:ext>
            </a:extLst>
          </p:cNvPr>
          <p:cNvPicPr>
            <a:picLocks noChangeAspect="1"/>
          </p:cNvPicPr>
          <p:nvPr/>
        </p:nvPicPr>
        <p:blipFill>
          <a:blip r:embed="rId2"/>
          <a:stretch>
            <a:fillRect/>
          </a:stretch>
        </p:blipFill>
        <p:spPr>
          <a:xfrm>
            <a:off x="5044797" y="1641987"/>
            <a:ext cx="7147203" cy="5216013"/>
          </a:xfrm>
          <a:prstGeom prst="rect">
            <a:avLst/>
          </a:prstGeom>
        </p:spPr>
      </p:pic>
      <p:sp>
        <p:nvSpPr>
          <p:cNvPr id="5" name="TextBox 4">
            <a:extLst>
              <a:ext uri="{FF2B5EF4-FFF2-40B4-BE49-F238E27FC236}">
                <a16:creationId xmlns:a16="http://schemas.microsoft.com/office/drawing/2014/main" id="{8ABC8774-2650-C510-FB90-A7F66AB19FCE}"/>
              </a:ext>
            </a:extLst>
          </p:cNvPr>
          <p:cNvSpPr txBox="1"/>
          <p:nvPr/>
        </p:nvSpPr>
        <p:spPr>
          <a:xfrm>
            <a:off x="226991" y="1664670"/>
            <a:ext cx="4817806" cy="5170646"/>
          </a:xfrm>
          <a:prstGeom prst="rect">
            <a:avLst/>
          </a:prstGeom>
          <a:noFill/>
        </p:spPr>
        <p:txBody>
          <a:bodyPr wrap="square" rtlCol="0">
            <a:spAutoFit/>
          </a:bodyPr>
          <a:lstStyle/>
          <a:p>
            <a:r>
              <a:rPr lang="en-US" sz="2400" dirty="0"/>
              <a:t>Designed a four-cylinder engine assembly in SolidWorks, including pistons, connecting rods, and crankshaft, with proper dimensional relationships and motion constraints. Developed each component as individual parts, assembled them using mates to simulate the kinematic motion, and verified clearances, alignment, and overall mechanical functionality of the system.</a:t>
            </a:r>
          </a:p>
          <a:p>
            <a:endParaRPr lang="en-US" dirty="0"/>
          </a:p>
        </p:txBody>
      </p:sp>
    </p:spTree>
    <p:extLst>
      <p:ext uri="{BB962C8B-B14F-4D97-AF65-F5344CB8AC3E}">
        <p14:creationId xmlns:p14="http://schemas.microsoft.com/office/powerpoint/2010/main" val="2410999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A362B-9391-545A-5AFA-20EA36FAE0E2}"/>
              </a:ext>
            </a:extLst>
          </p:cNvPr>
          <p:cNvSpPr>
            <a:spLocks noGrp="1"/>
          </p:cNvSpPr>
          <p:nvPr>
            <p:ph type="title"/>
          </p:nvPr>
        </p:nvSpPr>
        <p:spPr>
          <a:xfrm>
            <a:off x="402518" y="0"/>
            <a:ext cx="10353761" cy="1326321"/>
          </a:xfrm>
        </p:spPr>
        <p:txBody>
          <a:bodyPr/>
          <a:lstStyle/>
          <a:p>
            <a:r>
              <a:rPr lang="en-US" dirty="0" err="1"/>
              <a:t>DiffErential</a:t>
            </a:r>
            <a:endParaRPr lang="en-US" dirty="0"/>
          </a:p>
        </p:txBody>
      </p:sp>
      <p:pic>
        <p:nvPicPr>
          <p:cNvPr id="4" name="Picture 3">
            <a:extLst>
              <a:ext uri="{FF2B5EF4-FFF2-40B4-BE49-F238E27FC236}">
                <a16:creationId xmlns:a16="http://schemas.microsoft.com/office/drawing/2014/main" id="{743867DD-2854-CE46-F080-178611A44007}"/>
              </a:ext>
            </a:extLst>
          </p:cNvPr>
          <p:cNvPicPr>
            <a:picLocks noChangeAspect="1"/>
          </p:cNvPicPr>
          <p:nvPr/>
        </p:nvPicPr>
        <p:blipFill>
          <a:blip r:embed="rId2"/>
          <a:stretch>
            <a:fillRect/>
          </a:stretch>
        </p:blipFill>
        <p:spPr>
          <a:xfrm>
            <a:off x="4594648" y="1597738"/>
            <a:ext cx="7597352" cy="5260262"/>
          </a:xfrm>
          <a:prstGeom prst="rect">
            <a:avLst/>
          </a:prstGeom>
        </p:spPr>
      </p:pic>
      <p:sp>
        <p:nvSpPr>
          <p:cNvPr id="5" name="TextBox 4">
            <a:extLst>
              <a:ext uri="{FF2B5EF4-FFF2-40B4-BE49-F238E27FC236}">
                <a16:creationId xmlns:a16="http://schemas.microsoft.com/office/drawing/2014/main" id="{6E6C5B84-141E-DEEF-AC5F-1CD0BAA54B13}"/>
              </a:ext>
            </a:extLst>
          </p:cNvPr>
          <p:cNvSpPr txBox="1"/>
          <p:nvPr/>
        </p:nvSpPr>
        <p:spPr>
          <a:xfrm>
            <a:off x="402518" y="1597738"/>
            <a:ext cx="4296697" cy="4893647"/>
          </a:xfrm>
          <a:prstGeom prst="rect">
            <a:avLst/>
          </a:prstGeom>
          <a:noFill/>
        </p:spPr>
        <p:txBody>
          <a:bodyPr wrap="square" rtlCol="0">
            <a:spAutoFit/>
          </a:bodyPr>
          <a:lstStyle/>
          <a:p>
            <a:r>
              <a:rPr lang="en-US" sz="2400" dirty="0"/>
              <a:t>Modeled a differential assembly in SolidWorks, including the ring gear, pinion, side gears, spider gears, and housing, with accurate gear geometry and dimensional relationships. Assembled the components using appropriate mates to simulate power transmission and verified gear meshing, clearances, and rotational behavior of the system.</a:t>
            </a:r>
          </a:p>
        </p:txBody>
      </p:sp>
    </p:spTree>
    <p:extLst>
      <p:ext uri="{BB962C8B-B14F-4D97-AF65-F5344CB8AC3E}">
        <p14:creationId xmlns:p14="http://schemas.microsoft.com/office/powerpoint/2010/main" val="837143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919F-45E1-B31C-8BFF-CB1E9AAF8AEF}"/>
              </a:ext>
            </a:extLst>
          </p:cNvPr>
          <p:cNvSpPr>
            <a:spLocks noGrp="1"/>
          </p:cNvSpPr>
          <p:nvPr>
            <p:ph type="title"/>
          </p:nvPr>
        </p:nvSpPr>
        <p:spPr>
          <a:xfrm>
            <a:off x="697485" y="0"/>
            <a:ext cx="10353761" cy="1326321"/>
          </a:xfrm>
        </p:spPr>
        <p:txBody>
          <a:bodyPr/>
          <a:lstStyle/>
          <a:p>
            <a:r>
              <a:rPr lang="en-US" dirty="0"/>
              <a:t>Wheel-loader</a:t>
            </a:r>
          </a:p>
        </p:txBody>
      </p:sp>
      <p:pic>
        <p:nvPicPr>
          <p:cNvPr id="4" name="Picture 3">
            <a:extLst>
              <a:ext uri="{FF2B5EF4-FFF2-40B4-BE49-F238E27FC236}">
                <a16:creationId xmlns:a16="http://schemas.microsoft.com/office/drawing/2014/main" id="{3181AAAF-CFBD-2C11-0D98-3CC5569ACCAC}"/>
              </a:ext>
            </a:extLst>
          </p:cNvPr>
          <p:cNvPicPr>
            <a:picLocks noChangeAspect="1"/>
          </p:cNvPicPr>
          <p:nvPr/>
        </p:nvPicPr>
        <p:blipFill>
          <a:blip r:embed="rId2"/>
          <a:stretch>
            <a:fillRect/>
          </a:stretch>
        </p:blipFill>
        <p:spPr>
          <a:xfrm>
            <a:off x="4013816" y="1720645"/>
            <a:ext cx="8178184" cy="5137355"/>
          </a:xfrm>
          <a:prstGeom prst="rect">
            <a:avLst/>
          </a:prstGeom>
        </p:spPr>
      </p:pic>
      <p:sp>
        <p:nvSpPr>
          <p:cNvPr id="5" name="TextBox 4">
            <a:extLst>
              <a:ext uri="{FF2B5EF4-FFF2-40B4-BE49-F238E27FC236}">
                <a16:creationId xmlns:a16="http://schemas.microsoft.com/office/drawing/2014/main" id="{BDC6811D-8E5E-2357-4222-799C03415DED}"/>
              </a:ext>
            </a:extLst>
          </p:cNvPr>
          <p:cNvSpPr txBox="1"/>
          <p:nvPr/>
        </p:nvSpPr>
        <p:spPr>
          <a:xfrm>
            <a:off x="235974" y="1485622"/>
            <a:ext cx="3647768" cy="5262979"/>
          </a:xfrm>
          <a:prstGeom prst="rect">
            <a:avLst/>
          </a:prstGeom>
          <a:noFill/>
        </p:spPr>
        <p:txBody>
          <a:bodyPr wrap="square" rtlCol="0">
            <a:spAutoFit/>
          </a:bodyPr>
          <a:lstStyle/>
          <a:p>
            <a:r>
              <a:rPr lang="en-US" sz="2400" dirty="0"/>
              <a:t>Modeled a wheel loader assembly in SolidWorks, including the chassis, bucket, linkage mechanism, and hydraulic cylinder layout. Assembled the components with proper mates to simulate lifting and dumping motions, and verified clearances, articulation, and overall mechanical functionality of the system.</a:t>
            </a:r>
          </a:p>
        </p:txBody>
      </p:sp>
    </p:spTree>
    <p:extLst>
      <p:ext uri="{BB962C8B-B14F-4D97-AF65-F5344CB8AC3E}">
        <p14:creationId xmlns:p14="http://schemas.microsoft.com/office/powerpoint/2010/main" val="861279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B04F2-0D76-8FB7-E05A-3D94128F5505}"/>
              </a:ext>
            </a:extLst>
          </p:cNvPr>
          <p:cNvSpPr>
            <a:spLocks noGrp="1"/>
          </p:cNvSpPr>
          <p:nvPr>
            <p:ph type="ctrTitle"/>
          </p:nvPr>
        </p:nvSpPr>
        <p:spPr>
          <a:xfrm>
            <a:off x="1595269" y="78659"/>
            <a:ext cx="9001462" cy="1150374"/>
          </a:xfrm>
        </p:spPr>
        <p:txBody>
          <a:bodyPr/>
          <a:lstStyle/>
          <a:p>
            <a:r>
              <a:rPr lang="en-US" dirty="0"/>
              <a:t>Thank you </a:t>
            </a:r>
          </a:p>
        </p:txBody>
      </p:sp>
      <p:sp>
        <p:nvSpPr>
          <p:cNvPr id="3" name="Subtitle 2">
            <a:extLst>
              <a:ext uri="{FF2B5EF4-FFF2-40B4-BE49-F238E27FC236}">
                <a16:creationId xmlns:a16="http://schemas.microsoft.com/office/drawing/2014/main" id="{B70E99FA-2BCD-CFD7-CCD9-2E678AF5BBD0}"/>
              </a:ext>
            </a:extLst>
          </p:cNvPr>
          <p:cNvSpPr>
            <a:spLocks noGrp="1"/>
          </p:cNvSpPr>
          <p:nvPr>
            <p:ph type="subTitle" idx="1"/>
          </p:nvPr>
        </p:nvSpPr>
        <p:spPr>
          <a:xfrm>
            <a:off x="2047553" y="3110425"/>
            <a:ext cx="6811312" cy="1655762"/>
          </a:xfrm>
        </p:spPr>
        <p:txBody>
          <a:bodyPr/>
          <a:lstStyle/>
          <a:p>
            <a:r>
              <a:rPr lang="en-US" dirty="0"/>
              <a:t>ADITYA BANSAL</a:t>
            </a:r>
          </a:p>
          <a:p>
            <a:r>
              <a:rPr lang="en-US" dirty="0"/>
              <a:t>                  Contact : +91 – 8619759363</a:t>
            </a:r>
          </a:p>
          <a:p>
            <a:r>
              <a:rPr lang="en-US" dirty="0"/>
              <a:t>                         Email : 23ume506@lnmiit.ac.in</a:t>
            </a:r>
          </a:p>
        </p:txBody>
      </p:sp>
    </p:spTree>
    <p:extLst>
      <p:ext uri="{BB962C8B-B14F-4D97-AF65-F5344CB8AC3E}">
        <p14:creationId xmlns:p14="http://schemas.microsoft.com/office/powerpoint/2010/main" val="2825260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84956D-B3A9-4D67-A777-C382A9E5A5E5}">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TM04033921[[fn=Damask]]</Template>
  <TotalTime>83</TotalTime>
  <Words>706</Words>
  <Application>Microsoft Office PowerPoint</Application>
  <PresentationFormat>Widescreen</PresentationFormat>
  <Paragraphs>39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Bookman Old Style</vt:lpstr>
      <vt:lpstr>Rockwell</vt:lpstr>
      <vt:lpstr>Damask</vt:lpstr>
      <vt:lpstr> CAD DESIGNS     Using Autodesk fusion 360</vt:lpstr>
      <vt:lpstr>Belt and pulley</vt:lpstr>
      <vt:lpstr>Double helical gear</vt:lpstr>
      <vt:lpstr>Slider Crank Mechanism</vt:lpstr>
      <vt:lpstr>2 stroke engine</vt:lpstr>
      <vt:lpstr>Individual components for 2 stroke engine</vt:lpstr>
      <vt:lpstr>Servo motor</vt:lpstr>
      <vt:lpstr>Roller bearing</vt:lpstr>
      <vt:lpstr>Autonomous UNDERWATER VEHICLE</vt:lpstr>
      <vt:lpstr>Individual components of auv</vt:lpstr>
      <vt:lpstr>4 cylinder Engine</vt:lpstr>
      <vt:lpstr>DiffErential</vt:lpstr>
      <vt:lpstr>Wheel-loader</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bansal</dc:creator>
  <cp:lastModifiedBy>Aditya bansal</cp:lastModifiedBy>
  <cp:revision>1</cp:revision>
  <dcterms:created xsi:type="dcterms:W3CDTF">2025-09-02T10:56:25Z</dcterms:created>
  <dcterms:modified xsi:type="dcterms:W3CDTF">2026-02-18T05:47:06Z</dcterms:modified>
</cp:coreProperties>
</file>